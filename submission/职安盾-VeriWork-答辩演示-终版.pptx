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c66d2b6a5a4dff" /><Relationship Type="http://schemas.openxmlformats.org/officeDocument/2006/relationships/extended-properties" Target="/docProps/app.xml" Id="Rbbbde5deae2e4101" /><Relationship Type="http://schemas.openxmlformats.org/officeDocument/2006/relationships/officeDocument" Target="/ppt/presentation.xml" Id="R53c558e142ec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71cc70e32496f"/>
  </p:sldMasterIdLst>
  <p:notesMasterIdLst>
    <p:notesMasterId xmlns:r="http://schemas.openxmlformats.org/officeDocument/2006/relationships" r:id="R7f1beb81327d4ce7"/>
  </p:notesMasterIdLst>
  <p:sldIdLst>
    <p:sldId xmlns:r="http://schemas.openxmlformats.org/officeDocument/2006/relationships" id="256" r:id="R40286a1ef081435f"/>
    <p:sldId xmlns:r="http://schemas.openxmlformats.org/officeDocument/2006/relationships" id="257" r:id="R66dba0585a5745eb"/>
    <p:sldId xmlns:r="http://schemas.openxmlformats.org/officeDocument/2006/relationships" id="258" r:id="R40a74cdf265d49cf"/>
    <p:sldId xmlns:r="http://schemas.openxmlformats.org/officeDocument/2006/relationships" id="259" r:id="R9c6b654e489f4c89"/>
    <p:sldId xmlns:r="http://schemas.openxmlformats.org/officeDocument/2006/relationships" id="260" r:id="R26d4a6d7eea1416b"/>
    <p:sldId xmlns:r="http://schemas.openxmlformats.org/officeDocument/2006/relationships" id="261" r:id="Rfbc4cda50e354cb4"/>
    <p:sldId xmlns:r="http://schemas.openxmlformats.org/officeDocument/2006/relationships" id="262" r:id="Rb00a35d0524c4540"/>
    <p:sldId xmlns:r="http://schemas.openxmlformats.org/officeDocument/2006/relationships" id="263" r:id="Rb62b3f2bd5d74416"/>
    <p:sldId xmlns:r="http://schemas.openxmlformats.org/officeDocument/2006/relationships" id="264" r:id="Rc63dc023565c4d4e"/>
    <p:sldId xmlns:r="http://schemas.openxmlformats.org/officeDocument/2006/relationships" id="265" r:id="Rb15604bb1eaa4ff8"/>
    <p:sldId xmlns:r="http://schemas.openxmlformats.org/officeDocument/2006/relationships" id="266" r:id="R7453f28064384f85"/>
    <p:sldId xmlns:r="http://schemas.openxmlformats.org/officeDocument/2006/relationships" id="267" r:id="Rca65db6a01bc4efe"/>
    <p:sldId xmlns:r="http://schemas.openxmlformats.org/officeDocument/2006/relationships" id="268" r:id="Rb48270dea13942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0a01929f94a16" /><Relationship Type="http://schemas.openxmlformats.org/officeDocument/2006/relationships/slideMaster" Target="/ppt/slideMasters/slideMaster1.xml" Id="R9b071cc70e32496f" /><Relationship Type="http://schemas.openxmlformats.org/officeDocument/2006/relationships/notesMaster" Target="/ppt/notesMasters/notesMaster1.xml" Id="R7f1beb81327d4ce7" /><Relationship Type="http://schemas.openxmlformats.org/officeDocument/2006/relationships/presProps" Target="/ppt/presProps.xml" Id="R4064f5468bae473a" /><Relationship Type="http://schemas.openxmlformats.org/officeDocument/2006/relationships/tableStyles" Target="/ppt/tableStyles.xml" Id="R38c90d9c23ad4f0f" /><Relationship Type="http://schemas.openxmlformats.org/officeDocument/2006/relationships/slide" Target="/ppt/slides/slide1.xml" Id="R40286a1ef081435f" /><Relationship Type="http://schemas.openxmlformats.org/officeDocument/2006/relationships/slide" Target="/ppt/slides/slide2.xml" Id="R66dba0585a5745eb" /><Relationship Type="http://schemas.openxmlformats.org/officeDocument/2006/relationships/slide" Target="/ppt/slides/slide3.xml" Id="R40a74cdf265d49cf" /><Relationship Type="http://schemas.openxmlformats.org/officeDocument/2006/relationships/slide" Target="/ppt/slides/slide4.xml" Id="R9c6b654e489f4c89" /><Relationship Type="http://schemas.openxmlformats.org/officeDocument/2006/relationships/slide" Target="/ppt/slides/slide5.xml" Id="R26d4a6d7eea1416b" /><Relationship Type="http://schemas.openxmlformats.org/officeDocument/2006/relationships/slide" Target="/ppt/slides/slide6.xml" Id="Rfbc4cda50e354cb4" /><Relationship Type="http://schemas.openxmlformats.org/officeDocument/2006/relationships/slide" Target="/ppt/slides/slide7.xml" Id="Rb00a35d0524c4540" /><Relationship Type="http://schemas.openxmlformats.org/officeDocument/2006/relationships/slide" Target="/ppt/slides/slide8.xml" Id="Rb62b3f2bd5d74416" /><Relationship Type="http://schemas.openxmlformats.org/officeDocument/2006/relationships/slide" Target="/ppt/slides/slide9.xml" Id="Rc63dc023565c4d4e" /><Relationship Type="http://schemas.openxmlformats.org/officeDocument/2006/relationships/slide" Target="/ppt/slides/slide10.xml" Id="Rb15604bb1eaa4ff8" /><Relationship Type="http://schemas.openxmlformats.org/officeDocument/2006/relationships/slide" Target="/ppt/slides/slide11.xml" Id="R7453f28064384f85" /><Relationship Type="http://schemas.openxmlformats.org/officeDocument/2006/relationships/slide" Target="/ppt/slides/slide12.xml" Id="Rca65db6a01bc4efe" /><Relationship Type="http://schemas.openxmlformats.org/officeDocument/2006/relationships/slide" Target="/ppt/slides/slide13.xml" Id="Rb48270dea13942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ec02ebd79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a243023dc4ce3" /><Relationship Type="http://schemas.openxmlformats.org/officeDocument/2006/relationships/notesMaster" Target="/ppt/notesMasters/notesMaster1.xml" Id="R34f0a92687364b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9ce7be9944cc5" /><Relationship Type="http://schemas.openxmlformats.org/officeDocument/2006/relationships/notesMaster" Target="/ppt/notesMasters/notesMaster1.xml" Id="R80fd0e8779f0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dd55cbed2042c8" /><Relationship Type="http://schemas.openxmlformats.org/officeDocument/2006/relationships/notesMaster" Target="/ppt/notesMasters/notesMaster1.xml" Id="Re0238e2d6c9b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805ca1e514aeb" /><Relationship Type="http://schemas.openxmlformats.org/officeDocument/2006/relationships/notesMaster" Target="/ppt/notesMasters/notesMaster1.xml" Id="R9931084791a54f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e23b1c9175410c" /><Relationship Type="http://schemas.openxmlformats.org/officeDocument/2006/relationships/notesMaster" Target="/ppt/notesMasters/notesMaster1.xml" Id="Rb2b8e732b0bc4a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4580784919499d" /><Relationship Type="http://schemas.openxmlformats.org/officeDocument/2006/relationships/notesMaster" Target="/ppt/notesMasters/notesMaster1.xml" Id="Raec86af2fa2640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85ba3ce13437a" /><Relationship Type="http://schemas.openxmlformats.org/officeDocument/2006/relationships/notesMaster" Target="/ppt/notesMasters/notesMaster1.xml" Id="R9ab5fe07ede0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607cf29244fc7" /><Relationship Type="http://schemas.openxmlformats.org/officeDocument/2006/relationships/notesMaster" Target="/ppt/notesMasters/notesMaster1.xml" Id="R59d609acb04047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505970051d4502" /><Relationship Type="http://schemas.openxmlformats.org/officeDocument/2006/relationships/notesMaster" Target="/ppt/notesMasters/notesMaster1.xml" Id="R423b82d93ff343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8d273785d74c39" /><Relationship Type="http://schemas.openxmlformats.org/officeDocument/2006/relationships/notesMaster" Target="/ppt/notesMasters/notesMaster1.xml" Id="R44a9afd83d0b47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314076d99a41b7" /><Relationship Type="http://schemas.openxmlformats.org/officeDocument/2006/relationships/notesMaster" Target="/ppt/notesMasters/notesMaster1.xml" Id="Ree03533fa9d84d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7a6819cd34517" /><Relationship Type="http://schemas.openxmlformats.org/officeDocument/2006/relationships/notesMaster" Target="/ppt/notesMasters/notesMaster1.xml" Id="R474e3d3b57e244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9f262fb13a4eb1" /><Relationship Type="http://schemas.openxmlformats.org/officeDocument/2006/relationships/notesMaster" Target="/ppt/notesMasters/notesMaster1.xml" Id="R7ce69ccb150d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b0b13bbd741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8865af84148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958cf067f43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a04580a5748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1ee64fbff46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d618addd5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A56D9A-7D06-4BF5-B60E-8454ADE35B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8410D8-2079-4360-A60E-F517F463F7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A1D275-0094-4BBA-B672-80137BABA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256178-4EAC-4A51-B8A5-F5953408E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FB9248-82FC-4AE6-BAE7-1F95BF99E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F58A21-E8E7-4641-9DC8-39DB57D68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F5C1F6-4F22-4130-8008-161D86E12E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188BD8-F4CF-40B2-B508-FF2804A65E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97207A-6910-445E-9A29-A14025AAD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8276D0-05BF-4F2E-8CB1-A81D1EB05D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66288400ce499d" /><Relationship Type="http://schemas.openxmlformats.org/officeDocument/2006/relationships/slideLayout" Target="/ppt/slideLayouts/slideLayout1.xml" Id="Re7c23eacd9974a40" /><Relationship Type="http://schemas.openxmlformats.org/officeDocument/2006/relationships/slideLayout" Target="/ppt/slideLayouts/slideLayout2.xml" Id="R5bed01e241724c03" /><Relationship Type="http://schemas.openxmlformats.org/officeDocument/2006/relationships/slideLayout" Target="/ppt/slideLayouts/slideLayout3.xml" Id="R2d91bce0219945e0" /><Relationship Type="http://schemas.openxmlformats.org/officeDocument/2006/relationships/slideLayout" Target="/ppt/slideLayouts/slideLayout4.xml" Id="R4bf52bb0607c4547" /><Relationship Type="http://schemas.openxmlformats.org/officeDocument/2006/relationships/slideLayout" Target="/ppt/slideLayouts/slideLayout5.xml" Id="R260a831aec7b403c" /><Relationship Type="http://schemas.openxmlformats.org/officeDocument/2006/relationships/slideLayout" Target="/ppt/slideLayouts/slideLayout6.xml" Id="R34f747ecd3b2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c23eacd9974a40"/>
    <p:sldLayoutId xmlns:r="http://schemas.openxmlformats.org/officeDocument/2006/relationships" id="2147483650" r:id="R5bed01e241724c03"/>
    <p:sldLayoutId xmlns:r="http://schemas.openxmlformats.org/officeDocument/2006/relationships" id="2147483651" r:id="R2d91bce0219945e0"/>
    <p:sldLayoutId xmlns:r="http://schemas.openxmlformats.org/officeDocument/2006/relationships" id="2147483652" r:id="R4bf52bb0607c4547"/>
    <p:sldLayoutId xmlns:r="http://schemas.openxmlformats.org/officeDocument/2006/relationships" id="2147483653" r:id="R260a831aec7b403c"/>
    <p:sldLayoutId xmlns:r="http://schemas.openxmlformats.org/officeDocument/2006/relationships" id="2147483654" r:id="R34f747ecd3b2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49a968a9a475d" /><Relationship Type="http://schemas.openxmlformats.org/officeDocument/2006/relationships/notesSlide" Target="/ppt/notesSlides/notesSlide1.xml" Id="R6e18114190af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8451d02184209" /><Relationship Type="http://schemas.openxmlformats.org/officeDocument/2006/relationships/notesSlide" Target="/ppt/notesSlides/notesSlide2.xml" Id="R2e6d1f3ba9a54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acc0e550b4f67" /><Relationship Type="http://schemas.openxmlformats.org/officeDocument/2006/relationships/notesSlide" Target="/ppt/notesSlides/notesSlide3.xml" Id="R9961823204d6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ac2da92ae4f82" /><Relationship Type="http://schemas.openxmlformats.org/officeDocument/2006/relationships/notesSlide" Target="/ppt/notesSlides/notesSlide4.xml" Id="R506292fbf2d543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f38b865684af9" /><Relationship Type="http://schemas.openxmlformats.org/officeDocument/2006/relationships/notesSlide" Target="/ppt/notesSlides/notesSlide5.xml" Id="Recb097e3598344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918a976944c94" /><Relationship Type="http://schemas.openxmlformats.org/officeDocument/2006/relationships/notesSlide" Target="/ppt/notesSlides/notesSlide6.xml" Id="R4431340996ed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1bec435a34518" /><Relationship Type="http://schemas.openxmlformats.org/officeDocument/2006/relationships/notesSlide" Target="/ppt/notesSlides/notesSlide7.xml" Id="R480acdcd3736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96c7894de4eb0" /><Relationship Type="http://schemas.openxmlformats.org/officeDocument/2006/relationships/notesSlide" Target="/ppt/notesSlides/notesSlide8.xml" Id="Rb965106e1ea44a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2ef1d9b794f35" /><Relationship Type="http://schemas.openxmlformats.org/officeDocument/2006/relationships/notesSlide" Target="/ppt/notesSlides/notesSlide9.xml" Id="R068604bcdb99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bad869e8a4bc3" /><Relationship Type="http://schemas.openxmlformats.org/officeDocument/2006/relationships/notesSlide" Target="/ppt/notesSlides/notesSlide10.xml" Id="R2bc461fa83b84c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68b7c29a9408b" /><Relationship Type="http://schemas.openxmlformats.org/officeDocument/2006/relationships/notesSlide" Target="/ppt/notesSlides/notesSlide11.xml" Id="R7278f683740e47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deadcee5247b6" /><Relationship Type="http://schemas.openxmlformats.org/officeDocument/2006/relationships/notesSlide" Target="/ppt/notesSlides/notesSlide12.xml" Id="R954d69ba5e0f41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6c58d2d214cf3" /><Relationship Type="http://schemas.openxmlformats.org/officeDocument/2006/relationships/notesSlide" Target="/ppt/notesSlides/notesSlide13.xml" Id="Rba497dbe29e9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82BF-82EA-463F-9E41-474783E4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0D5BE"/>
                </a:solidFill>
              </a:defRPr>
            </a:pPr>
            <a:r>
              <a:rPr sz="975" b="1">
                <a:solidFill>
                  <a:srgbClr val="00D5BE"/>
                </a:solidFill>
              </a:rPr>
              <a:t>TRUSTED EMPLOYMENT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73368-937D-4136-A252-04FA6E49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职安盾 VeriWork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17317-D156-4E81-A05D-BE7EC604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AD5E2"/>
                </a:solidFill>
              </a:defRPr>
            </a:pPr>
            <a:r>
              <a:rPr sz="1800" b="0">
                <a:solidFill>
                  <a:srgbClr val="CAD5E2"/>
                </a:solidFill>
              </a:rPr>
              <a:t>面向高校毕业生就业合同的可验证 AI 风险评估与证据链系统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D978F-9463-41C5-86C5-898C14F9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D5BE"/>
                </a:solidFill>
              </a:defRPr>
            </a:pPr>
            <a:r>
              <a:rPr sz="1350" b="0">
                <a:solidFill>
                  <a:srgbClr val="00D5BE"/>
                </a:solidFill>
              </a:rPr>
              <a:t>规则硬约束  ·  法源可追溯  ·  大模型受限召回  ·  拒答与复核  ·  行动闭环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ABA71-0B34-4073-B392-56BF739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0A1B9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0A1B9"/>
                </a:solidFill>
              </a:defRPr>
            </a:pPr>
            <a:r>
              <a:rPr sz="1125" b="0">
                <a:solidFill>
                  <a:srgbClr val="90A1B9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1745116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09B43-FAC4-4F4A-9683-3A0CC843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01 ·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76CE8-C115-4962-9556-258CCF87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就业合同风险判断不可信，行动也不闭环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EF869-835F-4531-ADD0-C535EE8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56637-C3C1-4A36-8CE8-3C2052F9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用户缺少知识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49B94-5DCD-4EA0-972E-FC81C3B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应届生难以及时识别试用期、社保、押金、培训贷、竞业和离职条款中的风险。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881AE-4DA6-4C9A-AAF2-D7BB639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04957-F3B1-4311-B2CE-7FE57D9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通用模型会编造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5A04D-2AD8-4368-94B8-F974CBB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看似专业，但可能引用错误法条，也可能把合法条款判成违法。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12C53-AA83-43E6-8567-71A80208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A36BC-687E-4C9C-B911-78F61F69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知道风险也无法行动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A4D37-6F9A-4EA5-A225-CDD6328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用户仍不知道保存什么证据、如何沟通、向谁提交材料。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D36EF-1C46-4A5D-AFC5-CCB3466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813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8F9B9-DFDC-4CF0-99A5-330507D5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高后果却难量化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BFBAF-8AC1-4CDF-82C8-A0CE982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现有工具极少公开风险召回、错误引用和确定性失败案例。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6C0DF-AD53-4F6F-86F7-F5637C8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B900"/>
                </a:solidFill>
              </a:defRPr>
            </a:pPr>
            <a:r>
              <a:rPr sz="1800" b="1">
                <a:solidFill>
                  <a:srgbClr val="FFB900"/>
                </a:solidFill>
              </a:rPr>
              <a:t>目标：让 AI 在高后果场景里说清依据、承认不确定、给出下一步。</a:t>
            </a:r>
          </a:p>
        </p:txBody>
      </p:sp>
    </p:spTree>
    <p:extLst>
      <p:ext uri="{BB962C8B-B14F-4D97-AF65-F5344CB8AC3E}">
        <p14:creationId xmlns:p14="http://schemas.microsoft.com/office/powerpoint/2010/main" val="1822319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DCAEC-0691-4F0E-B4EF-A54CB5B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02 · 为什么不能直接用通用模型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D67ED-0519-4796-9361-9CFC14F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“会回答”不等于“可信任”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5F05-77F1-42D8-B377-C23B550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4D6FE-2FD6-48DD-B49F-0AA869ED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没有硬约束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AFD75-0390-4A75-8ED0-0BDEE6AE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试用期、社保、收费等硬规则不能交给模型自由生成。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216A4-FA1A-4BEC-A254-756C77A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096C9-CE65-47ED-A493-943A5443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没有可追溯依据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E8754-8B0F-4971-A50E-43F7412F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结论可能没有原文定位，也可能引用失效或不适用法条。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8F73B-EFC1-49EC-B495-F5EED5D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52C5D-1B85-4811-8C4D-D95D97D7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不会主动拒答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AB2C9-1743-40A8-A8CD-905D8392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信息不足时仍倾向输出完整答案，形成确定但错误的风险结论。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B6A9B-8F5B-4F01-BE62-AD264EA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3A852-0C8D-4C85-BE9F-45480BA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无法形成闭环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6691C-D6CD-4503-8207-C4F772DE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回答停留在文本，不能继续生成证据清单和办理路径。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52059-2ABD-4028-8FF4-9DF75574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职安盾研究的不是法律问答，而是大模型在高风险垂直场景中的可信决策机制。</a:t>
            </a:r>
          </a:p>
        </p:txBody>
      </p:sp>
    </p:spTree>
    <p:extLst>
      <p:ext uri="{BB962C8B-B14F-4D97-AF65-F5344CB8AC3E}">
        <p14:creationId xmlns:p14="http://schemas.microsoft.com/office/powerpoint/2010/main" val="774136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0C22F-D396-4D2C-8572-1A85EDF3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03 · 可信链路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C1CF3-D9A4-4113-810B-A6F8129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六层可信研判链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34FE3-89EF-447D-AE00-686C45CC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F3E3-432E-4764-9DB2-440BE7A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14A27-2938-47C2-85CF-734D600E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输入层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924CD-B3C6-4295-ADFB-FEBF56A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合同、Offer、实习协议、聊天与工资记录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24BF3-5EE9-472B-B4D7-04DC7F7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77441-97B4-4026-B509-22BCE58B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50C4-486B-421D-89A8-88EA096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抽取层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0D8D3-9F56-445E-A888-9FFE0656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条款切分、关键事实抽取和结构化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4350E-CAC1-460D-A1CC-4C421CC8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FFFB7-4F30-474D-8DCB-D37490E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F3E12-A3C0-4156-958E-7ACE9C33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知识层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F8FF1-DCA5-4053-8DDB-B2907FF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公开法源、地方政策和版本追踪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636AF-69EB-4FAD-A61D-6126997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98859-AAF2-4914-AF2A-7FEE4B7F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45CBC-48D3-4545-A89F-659A059D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决策层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5B59E-B533-4412-A840-D46F1F29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确定性规则 + 语义识别 + 大模型候选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7AE22-BD1B-4631-A2B1-19836502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CBADD-D9EB-42C4-A7DA-2F56CE5D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D3177-3DE9-4DDA-B6A4-2CF39A0A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校验层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CC4DB-1777-4CBE-876A-850D153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原文校验、引用核查、拒答和人工复核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9A0D0-8397-4466-A30B-135E3172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F5B9F-DDE6-49E8-AD59-440ED9E1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4D775-558B-4CC9-9C69-88990AFD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行动层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EA1CA-7808-42F9-9CD8-471A50E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AD5E2"/>
                </a:solidFill>
              </a:defRPr>
            </a:pPr>
            <a:r>
              <a:rPr sz="1050" b="0">
                <a:solidFill>
                  <a:srgbClr val="CAD5E2"/>
                </a:solidFill>
              </a:rPr>
              <a:t>证据清单、沟通问题和材料草稿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82D69-A401-48DF-8C75-93F11E7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模型只能补充有原文依据的候选风险，不能修改风险等级或新增法源。</a:t>
            </a:r>
          </a:p>
        </p:txBody>
      </p:sp>
    </p:spTree>
    <p:extLst>
      <p:ext uri="{BB962C8B-B14F-4D97-AF65-F5344CB8AC3E}">
        <p14:creationId xmlns:p14="http://schemas.microsoft.com/office/powerpoint/2010/main" val="684970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35C6C-2F5B-41D7-8D37-A7765867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04 · 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B1691-0671-4E29-90D1-0E7227BB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从风险提示走到证据与行动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21C7B-9EE6-48F9-9A43-D893C21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DC6CC-9AF1-4605-B22A-BB5D98F1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合同研判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5297-B5D8-42A8-A120-D3DCE4D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输出风险分、风险清单、原文片段、法源依据、置信度和行动建议。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67D5-0815-460A-A72F-CD59446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6481C-01C0-4FE0-944E-70D9CE7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可信轨迹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32D09-476E-4723-AFF3-240A5F6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展示规则、语义、法源检索、大模型候选和拒答过程。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F5FF-6B5B-4F2F-BCB4-2E9D0AAE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40A70-5CBB-4DAC-9792-4C641DB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证据与材料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AC154-DE85-46FD-96F4-5184829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生成证据清单、事件时间线、HR沟通问题和投诉/仲裁材料草稿。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F86ED-5E42-463E-8008-CE8138B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0D5BE"/>
                </a:solidFill>
              </a:defRPr>
            </a:pPr>
            <a:r>
              <a:rPr sz="1575" b="0">
                <a:solidFill>
                  <a:srgbClr val="00D5BE"/>
                </a:solidFill>
              </a:rPr>
              <a:t>现场演示：载入风险合同 → 运行研判 → 查看候选风险 → 条款定位 → 证据链 → 评测。</a:t>
            </a:r>
          </a:p>
        </p:txBody>
      </p:sp>
    </p:spTree>
    <p:extLst>
      <p:ext uri="{BB962C8B-B14F-4D97-AF65-F5344CB8AC3E}">
        <p14:creationId xmlns:p14="http://schemas.microsoft.com/office/powerpoint/2010/main" val="435992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B345B-59F0-4631-A515-A7623A1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05 · 创新一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E33B5-534A-4462-92C7-EC7D6C6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规则拥有硬约束权，模型只拥有解释权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3E141-F01A-48CB-810F-9EA352FC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238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3C1F5-1281-4F64-A921-3D5845A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规则引擎：确定性判断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7CAEA-860D-479B-B0E6-58B37FA4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819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处理试用期期限、社保、押金、培训贷、加班费、竞业限制等规则明确的事项。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B7CD9-EED1-4B5C-9E1C-F663F1D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5429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BDBF6-7F6A-420D-8D76-DED8AE5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安全例外：拒绝关键词误伤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6C2E5-DEA9-4687-B002-AC48B144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010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识别“不收取押金”“不低于80%”“三年以上合同六个月试用期”等合法或否定表达。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9A342-638C-4CD1-9BBB-325827E7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与普通 RAG 问答最本质的差异：模型输出不能覆盖程序硬规则。</a:t>
            </a:r>
          </a:p>
        </p:txBody>
      </p:sp>
    </p:spTree>
    <p:extLst>
      <p:ext uri="{BB962C8B-B14F-4D97-AF65-F5344CB8AC3E}">
        <p14:creationId xmlns:p14="http://schemas.microsoft.com/office/powerpoint/2010/main" val="1395680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EBB9A-67B0-4AF1-BC89-E990EF2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06 · 创新二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09DCC-59CE-48EB-B682-DCF3BA49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证据不足时停止“自信地胡说”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76AB4-42E1-4C2B-8A94-47434A82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AD02-9C02-449A-8415-0BD6B88B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结论绑定原文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B7F03-074A-424A-A0C1-D01F4AF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每项风险必须回到合同中的真实片段。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BC43C-3317-4BE5-B54F-69E72DC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88EE5-E5A8-4494-B840-1BDDCF2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结论绑定法源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AB97A-6E9E-43E0-B78B-C450DCF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规则映射核心法源，条款关键词再执行本地检索排序。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AB898-169B-43BC-917B-73710C1D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90914-A6A5-45B6-A1D1-FD865C2E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信息不足进入待核实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0192B-498F-474E-AF21-230B997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实习、兼职、项目合作和关键条款缺失时不输出确定回答。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F786-BFED-4159-8B8F-5830BEAD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295B9-5C5C-4475-8A96-7E5FE7A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保留失败案例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C9DFE-2161-4CDB-BDB4-7172A5E2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错误进入评测报告和下一轮迭代，不通过删除失败样本制造完美指标。</a:t>
            </a:r>
          </a:p>
        </p:txBody>
      </p:sp>
    </p:spTree>
    <p:extLst>
      <p:ext uri="{BB962C8B-B14F-4D97-AF65-F5344CB8AC3E}">
        <p14:creationId xmlns:p14="http://schemas.microsoft.com/office/powerpoint/2010/main" val="1229671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DDB92-CA0C-43CF-B3A7-6242DBE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07 · 评测设计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A7C6A-D5BC-44EC-B666-5F07EA8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把“看起来能用”变成可复现实验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80FF0-A0AF-4F2A-B2E1-06C14646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46A9B-02A2-48B8-9155-C21C614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80条开发回归集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3B59A-F505-4212-ADCA-4848EC84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覆盖13类风险、安全对照和待核实场景，用于规则开发和功能回归。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87DC-EDD6-483F-9F80-F5922C4B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D37E-DF61-408E-8A82-331C0B9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32条早期留出集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56A3C-AD74-423D-958E-31296C7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暴露关键词规则在“工装费、毕业证、技能贷款”等新表达上的泛化问题。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E73D0-A821-41DA-9CBD-4D76166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C98DD-F8A6-4BCA-8BA8-4F207EC0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40条冻结留出集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15CED-6C84-45B4-A0D2-94B37C4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规则开发后创建，不再针对结果调参，用于报告真实泛化差距。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53B11-DED4-45F2-9BC7-3D4276F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AD5E2"/>
                </a:solidFill>
              </a:defRPr>
            </a:pPr>
            <a:r>
              <a:rPr sz="1425" b="0">
                <a:solidFill>
                  <a:srgbClr val="CAD5E2"/>
                </a:solidFill>
              </a:rPr>
              <a:t>所有合成数据均标注来源、难度、期望风险、拒答要求和复核状态。</a:t>
            </a:r>
          </a:p>
        </p:txBody>
      </p:sp>
    </p:spTree>
    <p:extLst>
      <p:ext uri="{BB962C8B-B14F-4D97-AF65-F5344CB8AC3E}">
        <p14:creationId xmlns:p14="http://schemas.microsoft.com/office/powerpoint/2010/main" val="1515852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3131B-536A-424D-921B-B9E9D179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08 · 当前实测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B3911-200C-4180-B78F-9B78D79F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同轮公平对照：风险指标相当，法源覆盖显著不同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EE0CA-1FCF-4CF8-B73D-844323D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5238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301A0-5CE7-4AD7-90A0-0352C946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492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492"/>
                </a:solidFill>
              </a:defRPr>
            </a:pPr>
            <a:r>
              <a:rPr sz="1575" b="1">
                <a:solidFill>
                  <a:srgbClr val="00D492"/>
                </a:solidFill>
              </a:rPr>
              <a:t>DeepSeek-Flash · 40/40成功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9F9FE-EFC7-4AAC-91C8-A761316D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1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通用模型直答与职安盾混合链：P 96.3% / R 100% / F1 98.1%。混合链法源覆盖从 0% 提升到 100%。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C83F1-314F-4CAE-8D06-573496B1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5429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AD841-1AAE-4337-B139-0FA156C8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DeepSeek-V4-Pro · 40/40成功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1B7BB-5867-4680-9C2F-07E6DAF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01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续费并断点续跑后全部完成：P 92.9% / R 100% / F1 96.3%。混合链法源覆盖100%。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361DB-5973-4F06-8EBF-596F206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F4B85-7EFB-4CBC-824E-0014EBF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如何解释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C68F8-F3BF-421E-B573-5094D06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模型在已知风险ID内已有较强语义能力；真正不可替代的是法源可追溯、原文校验、硬规则与拒答边界。不能把合成留出集结果说成真实用户准确率。</a:t>
            </a:r>
          </a:p>
        </p:txBody>
      </p:sp>
    </p:spTree>
    <p:extLst>
      <p:ext uri="{BB962C8B-B14F-4D97-AF65-F5344CB8AC3E}">
        <p14:creationId xmlns:p14="http://schemas.microsoft.com/office/powerpoint/2010/main" val="137279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3FC71-0A45-4DD6-827C-9CF9A8A3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09 · 学校20日截止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FB817-0D7F-41AA-BB9C-07F57BE7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10天冲刺：先证据，后包装，绝不拖延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F3A91-23C1-4EEA-A0DD-9DE7D106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10月10-11日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AF388-6E6D-440E-93A7-6D1EDFA3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确定成员、指导教师和第一申报单位；完成官网注册；确认校内流程。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AD3A5-3FEC-4AC0-B6E2-B2F3F1BB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10月12-13日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E3D5D-86D2-4181-B6DD-E183D6B9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完成第二个模型实验；启动20人用户测试；收集测试数据和反馈。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468C6-8FDE-49EF-AC39-C9AD9DA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10月14-15日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406CB-1D4C-43DF-9FAA-5EA15FB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法律实务人员抽样复核；核验北京、上海、广东政策原文。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1955A-1EF2-4BBD-BB85-2E71BF30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10月16-17日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36357-5A38-4C3F-BE77-2BD4E81E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完成作品介绍、AI说明、知识产权清单；录制演示视频。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211CE-48DC-407E-A006-A8540E2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D5BE"/>
                </a:solidFill>
              </a:defRPr>
            </a:pPr>
            <a:r>
              <a:rPr sz="1350" b="1">
                <a:solidFill>
                  <a:srgbClr val="00D5BE"/>
                </a:solidFill>
              </a:rPr>
              <a:t>10月18-19日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90C42-4498-4167-8EA7-4B020D6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全流程彩排、无网演示测试、材料终审，提前提交学校。</a:t>
            </a:r>
          </a:p>
        </p:txBody>
      </p:sp>
    </p:spTree>
    <p:extLst>
      <p:ext uri="{BB962C8B-B14F-4D97-AF65-F5344CB8AC3E}">
        <p14:creationId xmlns:p14="http://schemas.microsoft.com/office/powerpoint/2010/main" val="428714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366F3-0A69-4810-A080-EAEAA29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10 · 团队分工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6ADB4-DF2C-4B3F-BC45-1EE2E885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五个人必须各自对一项证据负责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6CCD-AE2F-424C-9083-62E2E37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CA62C-1FB1-4564-A7F0-BECF94D5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队长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76704-0B18-452D-AAE2-A844596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注册、进度、学校沟通、最终提交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F7498-66F8-4B03-9867-AC75C277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EF524-2DDC-4EFE-8D82-D95C71E8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前端/产品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CD3B2-1906-40CE-BAE0-B700607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系统演示、交互、截图、无网彩排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3AEC9-44CD-4A80-BF17-B3B2142F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62C31-1AA8-48AD-8C3C-9937459A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后端/数据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C5B07-D003-45B2-98AA-C034C524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服务运行、隐私、数据说明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D7F53-F900-41C2-B2E5-AF9846C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C9CDD-FE3E-4B62-9878-0082BFD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模型/评测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61C78-627F-444F-9680-E0495AB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双模型实验、指标、失败案例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86217-21A3-44E3-BA02-F762569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6195A-1E98-4523-8C92-56F386A1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设计/材料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88E03-8711-455E-85C6-F3C27C22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PPT、视频、AI说明、来源清单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63220-F519-4186-A1F1-CEF18C33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B900"/>
                </a:solidFill>
              </a:defRPr>
            </a:pPr>
            <a:r>
              <a:rPr sz="1650" b="1">
                <a:solidFill>
                  <a:srgbClr val="FFB900"/>
                </a:solidFill>
              </a:rPr>
              <a:t>截止时间是20日，任何一项没有负责人，都会在最后两天变成阻塞。</a:t>
            </a:r>
          </a:p>
        </p:txBody>
      </p:sp>
    </p:spTree>
    <p:extLst>
      <p:ext uri="{BB962C8B-B14F-4D97-AF65-F5344CB8AC3E}">
        <p14:creationId xmlns:p14="http://schemas.microsoft.com/office/powerpoint/2010/main" val="14126524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E954D-746D-4041-984C-3F03A1A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D5BE"/>
                </a:solidFill>
              </a:defRPr>
            </a:pPr>
            <a:r>
              <a:rPr sz="900" b="1">
                <a:solidFill>
                  <a:srgbClr val="00D5BE"/>
                </a:solidFill>
              </a:rPr>
              <a:t>11 · 应用与边界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39295-719B-4593-A24F-22B218DC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面向真实就业服务，但不替代专业判断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C6828-DBCE-4A23-AF12-2816A77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DA8A-1BF5-4F5D-9E0A-F8C9711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高校就业中心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EDF4A-A6F8-49F7-9651-A2078A1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合同自查、就业权益教育、脱敏后的典型风险案例。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4EF64-FA9D-471F-BE3D-DB890AE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21DED-116B-4DAE-9380-5C28735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D5BE"/>
                </a:solidFill>
              </a:defRPr>
            </a:pPr>
            <a:r>
              <a:rPr sz="1575" b="1">
                <a:solidFill>
                  <a:srgbClr val="00D5BE"/>
                </a:solidFill>
              </a:rPr>
              <a:t>实习与灵活用工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C8073-B104-48E3-9170-69C5E8E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覆盖实习、兼职、项目合作等高风险但规则复杂场景。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D8A72-110B-4C55-B321-D76C933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3ED1-2640-4398-AB3D-57FC2CED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B9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B900"/>
                </a:solidFill>
              </a:defRPr>
            </a:pPr>
            <a:r>
              <a:rPr sz="1575" b="1">
                <a:solidFill>
                  <a:srgbClr val="FFB900"/>
                </a:solidFill>
              </a:rPr>
              <a:t>地方政策扩展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064D5-9B11-4A1E-AB12-859C4CE8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AD5E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AD5E2"/>
                </a:solidFill>
              </a:defRPr>
            </a:pPr>
            <a:r>
              <a:rPr sz="1125" b="0">
                <a:solidFill>
                  <a:srgbClr val="CAD5E2"/>
                </a:solidFill>
              </a:rPr>
              <a:t>全国规则加地方政策包，动态标准必须核验来源和生效日期。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ED55F-1E05-4E63-ACCA-6FE9ADD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产品定位：普法、风险提示和材料整理工具，不替代律师、仲裁机构或人社部门。</a:t>
            </a:r>
          </a:p>
        </p:txBody>
      </p:sp>
    </p:spTree>
    <p:extLst>
      <p:ext uri="{BB962C8B-B14F-4D97-AF65-F5344CB8AC3E}">
        <p14:creationId xmlns:p14="http://schemas.microsoft.com/office/powerpoint/2010/main" val="1525212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CC03D-16B0-47EE-AC0A-FE84B8E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D5BE"/>
                </a:solidFill>
              </a:defRPr>
            </a:pPr>
            <a:r>
              <a:rPr sz="1050" b="1">
                <a:solidFill>
                  <a:srgbClr val="00D5BE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88A04-8EE3-48CC-B951-E209C2C0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AFC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8FAFC"/>
                </a:solidFill>
              </a:defRPr>
            </a:pPr>
            <a:r>
              <a:rPr sz="3450" b="1">
                <a:solidFill>
                  <a:srgbClr val="F8FAFC"/>
                </a:solidFill>
              </a:rPr>
              <a:t>让高风险场景中的 AI</a:t>
            </a:r>
          </a:p>
          <a:p xmlns:a="http://schemas.openxmlformats.org/drawingml/2006/main">
            <a:pPr>
              <a:defRPr sz="3450" b="1">
                <a:solidFill>
                  <a:srgbClr val="F8FAFC"/>
                </a:solidFill>
              </a:defRPr>
            </a:pPr>
            <a:r>
              <a:rPr sz="3450" b="1">
                <a:solidFill>
                  <a:srgbClr val="F8FAFC"/>
                </a:solidFill>
              </a:rPr>
              <a:t>有依据、可验证、能行动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1B323-53ED-4B5E-BDA1-7C17920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D5BE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D5BE"/>
                </a:solidFill>
              </a:defRPr>
            </a:pPr>
            <a:r>
              <a:rPr sz="1800" b="0">
                <a:solidFill>
                  <a:srgbClr val="00D5BE"/>
                </a:solidFill>
              </a:rPr>
              <a:t>职安盾 VeriWork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24965-E8B3-4DF1-8069-79D0FFA7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0A1B9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0A1B9"/>
                </a:solidFill>
              </a:defRPr>
            </a:pPr>
            <a:r>
              <a:rPr sz="1125" b="0">
                <a:solidFill>
                  <a:srgbClr val="90A1B9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1290733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2026-10-10T03:39:16.1460000Z</dcterms:created>
  <dcterms:modified xsi:type="dcterms:W3CDTF">2026-10-10T03:39:16.1460000Z</dcterms:modified>
</coreProperties>
</file>