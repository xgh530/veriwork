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0a33b922141f6" /><Relationship Type="http://schemas.openxmlformats.org/officeDocument/2006/relationships/extended-properties" Target="/docProps/app.xml" Id="Rb34968adcfef4e1a" /><Relationship Type="http://schemas.openxmlformats.org/officeDocument/2006/relationships/officeDocument" Target="/ppt/presentation.xml" Id="R3d68c94964d9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1d2335a251456f"/>
  </p:sldMasterIdLst>
  <p:notesMasterIdLst>
    <p:notesMasterId xmlns:r="http://schemas.openxmlformats.org/officeDocument/2006/relationships" r:id="R2a4ba7251e5d4a5b"/>
  </p:notesMasterIdLst>
  <p:sldIdLst>
    <p:sldId xmlns:r="http://schemas.openxmlformats.org/officeDocument/2006/relationships" id="256" r:id="Rc8106b061166441b"/>
    <p:sldId xmlns:r="http://schemas.openxmlformats.org/officeDocument/2006/relationships" id="257" r:id="Racf66cb4e9064564"/>
    <p:sldId xmlns:r="http://schemas.openxmlformats.org/officeDocument/2006/relationships" id="258" r:id="Rdb138c1ae6604ff7"/>
    <p:sldId xmlns:r="http://schemas.openxmlformats.org/officeDocument/2006/relationships" id="259" r:id="R6eb7f44bb44f4109"/>
    <p:sldId xmlns:r="http://schemas.openxmlformats.org/officeDocument/2006/relationships" id="260" r:id="Refa6b21947a14b41"/>
    <p:sldId xmlns:r="http://schemas.openxmlformats.org/officeDocument/2006/relationships" id="261" r:id="R20315a3ad3e443af"/>
    <p:sldId xmlns:r="http://schemas.openxmlformats.org/officeDocument/2006/relationships" id="262" r:id="Ra19c36be82664b9b"/>
    <p:sldId xmlns:r="http://schemas.openxmlformats.org/officeDocument/2006/relationships" id="263" r:id="R37d8a16ab4774ca6"/>
    <p:sldId xmlns:r="http://schemas.openxmlformats.org/officeDocument/2006/relationships" id="264" r:id="Rde9fe1c365f6462d"/>
    <p:sldId xmlns:r="http://schemas.openxmlformats.org/officeDocument/2006/relationships" id="265" r:id="R35b865e155d9440f"/>
    <p:sldId xmlns:r="http://schemas.openxmlformats.org/officeDocument/2006/relationships" id="266" r:id="R5bae128a3de6474c"/>
    <p:sldId xmlns:r="http://schemas.openxmlformats.org/officeDocument/2006/relationships" id="267" r:id="R69407e2437364273"/>
    <p:sldId xmlns:r="http://schemas.openxmlformats.org/officeDocument/2006/relationships" id="268" r:id="R3e4a9cbe2b7c4e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f1ed4436f742c8" /><Relationship Type="http://schemas.openxmlformats.org/officeDocument/2006/relationships/slideMaster" Target="/ppt/slideMasters/slideMaster1.xml" Id="R601d2335a251456f" /><Relationship Type="http://schemas.openxmlformats.org/officeDocument/2006/relationships/notesMaster" Target="/ppt/notesMasters/notesMaster1.xml" Id="R2a4ba7251e5d4a5b" /><Relationship Type="http://schemas.openxmlformats.org/officeDocument/2006/relationships/presProps" Target="/ppt/presProps.xml" Id="Rda5177f8db754fa4" /><Relationship Type="http://schemas.openxmlformats.org/officeDocument/2006/relationships/tableStyles" Target="/ppt/tableStyles.xml" Id="R6a3f4ae02ac24d26" /><Relationship Type="http://schemas.openxmlformats.org/officeDocument/2006/relationships/slide" Target="/ppt/slides/slide1.xml" Id="Rc8106b061166441b" /><Relationship Type="http://schemas.openxmlformats.org/officeDocument/2006/relationships/slide" Target="/ppt/slides/slide2.xml" Id="Racf66cb4e9064564" /><Relationship Type="http://schemas.openxmlformats.org/officeDocument/2006/relationships/slide" Target="/ppt/slides/slide3.xml" Id="Rdb138c1ae6604ff7" /><Relationship Type="http://schemas.openxmlformats.org/officeDocument/2006/relationships/slide" Target="/ppt/slides/slide4.xml" Id="R6eb7f44bb44f4109" /><Relationship Type="http://schemas.openxmlformats.org/officeDocument/2006/relationships/slide" Target="/ppt/slides/slide5.xml" Id="Refa6b21947a14b41" /><Relationship Type="http://schemas.openxmlformats.org/officeDocument/2006/relationships/slide" Target="/ppt/slides/slide6.xml" Id="R20315a3ad3e443af" /><Relationship Type="http://schemas.openxmlformats.org/officeDocument/2006/relationships/slide" Target="/ppt/slides/slide7.xml" Id="Ra19c36be82664b9b" /><Relationship Type="http://schemas.openxmlformats.org/officeDocument/2006/relationships/slide" Target="/ppt/slides/slide8.xml" Id="R37d8a16ab4774ca6" /><Relationship Type="http://schemas.openxmlformats.org/officeDocument/2006/relationships/slide" Target="/ppt/slides/slide9.xml" Id="Rde9fe1c365f6462d" /><Relationship Type="http://schemas.openxmlformats.org/officeDocument/2006/relationships/slide" Target="/ppt/slides/slide10.xml" Id="R35b865e155d9440f" /><Relationship Type="http://schemas.openxmlformats.org/officeDocument/2006/relationships/slide" Target="/ppt/slides/slide11.xml" Id="R5bae128a3de6474c" /><Relationship Type="http://schemas.openxmlformats.org/officeDocument/2006/relationships/slide" Target="/ppt/slides/slide12.xml" Id="R69407e2437364273" /><Relationship Type="http://schemas.openxmlformats.org/officeDocument/2006/relationships/slide" Target="/ppt/slides/slide13.xml" Id="R3e4a9cbe2b7c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6f034666d9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b324a2a61543eb" /><Relationship Type="http://schemas.openxmlformats.org/officeDocument/2006/relationships/notesMaster" Target="/ppt/notesMasters/notesMaster1.xml" Id="R359f06bac8ca46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3e0e161ebc4900" /><Relationship Type="http://schemas.openxmlformats.org/officeDocument/2006/relationships/notesMaster" Target="/ppt/notesMasters/notesMaster1.xml" Id="R63f227b6904d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d2af4fb7344e5f" /><Relationship Type="http://schemas.openxmlformats.org/officeDocument/2006/relationships/notesMaster" Target="/ppt/notesMasters/notesMaster1.xml" Id="Rd6054caa312747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3dc2a34687438f" /><Relationship Type="http://schemas.openxmlformats.org/officeDocument/2006/relationships/notesMaster" Target="/ppt/notesMasters/notesMaster1.xml" Id="Ra360e573089048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204167ecc6427e" /><Relationship Type="http://schemas.openxmlformats.org/officeDocument/2006/relationships/notesMaster" Target="/ppt/notesMasters/notesMaster1.xml" Id="Rbb7116aa51804b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ac9ab44a424efb" /><Relationship Type="http://schemas.openxmlformats.org/officeDocument/2006/relationships/notesMaster" Target="/ppt/notesMasters/notesMaster1.xml" Id="R6f5f04b24b944b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2281a9c7d8459d" /><Relationship Type="http://schemas.openxmlformats.org/officeDocument/2006/relationships/notesMaster" Target="/ppt/notesMasters/notesMaster1.xml" Id="Rc1dfc4ad309341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a3d31d8a5549b6" /><Relationship Type="http://schemas.openxmlformats.org/officeDocument/2006/relationships/notesMaster" Target="/ppt/notesMasters/notesMaster1.xml" Id="Raf392261a20141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a31a6c39a84f5b" /><Relationship Type="http://schemas.openxmlformats.org/officeDocument/2006/relationships/notesMaster" Target="/ppt/notesMasters/notesMaster1.xml" Id="R9771eba27adc4b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13d9fa01fc43d7" /><Relationship Type="http://schemas.openxmlformats.org/officeDocument/2006/relationships/notesMaster" Target="/ppt/notesMasters/notesMaster1.xml" Id="R77b82fc88fcb4d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5cff8db44d4d94" /><Relationship Type="http://schemas.openxmlformats.org/officeDocument/2006/relationships/notesMaster" Target="/ppt/notesMasters/notesMaster1.xml" Id="R4fd2739b157b4d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fd2521747c4fae" /><Relationship Type="http://schemas.openxmlformats.org/officeDocument/2006/relationships/notesMaster" Target="/ppt/notesMasters/notesMaster1.xml" Id="Re5715ed20b114c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6c3dd52c774c48" /><Relationship Type="http://schemas.openxmlformats.org/officeDocument/2006/relationships/notesMaster" Target="/ppt/notesMasters/notesMaster1.xml" Id="R3fced6f58d2b4a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38f1fae074b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91089ed2546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f68384cc841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c04a254a943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25caf88c340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cd6fe8b6042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CB0874-5477-4026-9038-7966AA892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4D90D3-797D-42BC-9520-6B32A9098D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391958-C816-4E3E-95BA-784CE3F17A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6B7713-B53A-48D6-AC84-1D159B420D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059BEC-CF16-4C28-90A1-5B0231AFD0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6C7716-1DEA-4951-94FF-93F7F700D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52E4CD-3BA7-4F35-BB57-BEF8AA1D31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2C7A65-F27E-4A95-A3CB-F244E46C45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DB09C0-AAFA-43CB-B57B-7A80EF4837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5080C7-5F50-4B8E-852A-32B6B952B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a0097f4b9d478d" /><Relationship Type="http://schemas.openxmlformats.org/officeDocument/2006/relationships/slideLayout" Target="/ppt/slideLayouts/slideLayout1.xml" Id="Rf30cdec3bacb48a0" /><Relationship Type="http://schemas.openxmlformats.org/officeDocument/2006/relationships/slideLayout" Target="/ppt/slideLayouts/slideLayout2.xml" Id="R7cf30fe0dd754991" /><Relationship Type="http://schemas.openxmlformats.org/officeDocument/2006/relationships/slideLayout" Target="/ppt/slideLayouts/slideLayout3.xml" Id="R3e5987924a6a4ff7" /><Relationship Type="http://schemas.openxmlformats.org/officeDocument/2006/relationships/slideLayout" Target="/ppt/slideLayouts/slideLayout4.xml" Id="Rf50f98a262e94c30" /><Relationship Type="http://schemas.openxmlformats.org/officeDocument/2006/relationships/slideLayout" Target="/ppt/slideLayouts/slideLayout5.xml" Id="Rd4c9ab0209f8457f" /><Relationship Type="http://schemas.openxmlformats.org/officeDocument/2006/relationships/slideLayout" Target="/ppt/slideLayouts/slideLayout6.xml" Id="Rf607f34b667946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0cdec3bacb48a0"/>
    <p:sldLayoutId xmlns:r="http://schemas.openxmlformats.org/officeDocument/2006/relationships" id="2147483650" r:id="R7cf30fe0dd754991"/>
    <p:sldLayoutId xmlns:r="http://schemas.openxmlformats.org/officeDocument/2006/relationships" id="2147483651" r:id="R3e5987924a6a4ff7"/>
    <p:sldLayoutId xmlns:r="http://schemas.openxmlformats.org/officeDocument/2006/relationships" id="2147483652" r:id="Rf50f98a262e94c30"/>
    <p:sldLayoutId xmlns:r="http://schemas.openxmlformats.org/officeDocument/2006/relationships" id="2147483653" r:id="Rd4c9ab0209f8457f"/>
    <p:sldLayoutId xmlns:r="http://schemas.openxmlformats.org/officeDocument/2006/relationships" id="2147483654" r:id="Rf607f34b667946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e4961a5d74a04" /><Relationship Type="http://schemas.openxmlformats.org/officeDocument/2006/relationships/notesSlide" Target="/ppt/notesSlides/notesSlide1.xml" Id="Rc81368861e854c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7c40889c14c97" /><Relationship Type="http://schemas.openxmlformats.org/officeDocument/2006/relationships/notesSlide" Target="/ppt/notesSlides/notesSlide2.xml" Id="Rf231c5802bac4d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5997a7b1a470c" /><Relationship Type="http://schemas.openxmlformats.org/officeDocument/2006/relationships/notesSlide" Target="/ppt/notesSlides/notesSlide3.xml" Id="R14e0a0bda9ae45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8739b03d0481f" /><Relationship Type="http://schemas.openxmlformats.org/officeDocument/2006/relationships/notesSlide" Target="/ppt/notesSlides/notesSlide4.xml" Id="Rb638eec878e34c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785761f084de7" /><Relationship Type="http://schemas.openxmlformats.org/officeDocument/2006/relationships/notesSlide" Target="/ppt/notesSlides/notesSlide5.xml" Id="R243acf71fbb141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833eb4a344cc7" /><Relationship Type="http://schemas.openxmlformats.org/officeDocument/2006/relationships/notesSlide" Target="/ppt/notesSlides/notesSlide6.xml" Id="Refcbc4ad6c074c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1223cef354b00" /><Relationship Type="http://schemas.openxmlformats.org/officeDocument/2006/relationships/notesSlide" Target="/ppt/notesSlides/notesSlide7.xml" Id="R5c06e050329f45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11d8e2c0f460f" /><Relationship Type="http://schemas.openxmlformats.org/officeDocument/2006/relationships/notesSlide" Target="/ppt/notesSlides/notesSlide8.xml" Id="R13ca28e5827a4d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12fd0a1f5442e" /><Relationship Type="http://schemas.openxmlformats.org/officeDocument/2006/relationships/notesSlide" Target="/ppt/notesSlides/notesSlide9.xml" Id="R29e3786f5d7b42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3b8413c8c47d3" /><Relationship Type="http://schemas.openxmlformats.org/officeDocument/2006/relationships/notesSlide" Target="/ppt/notesSlides/notesSlide10.xml" Id="R01141ab4bb1542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d8f547b2a47ba" /><Relationship Type="http://schemas.openxmlformats.org/officeDocument/2006/relationships/notesSlide" Target="/ppt/notesSlides/notesSlide11.xml" Id="R15b211ca77ed41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7f1d90cda4aad" /><Relationship Type="http://schemas.openxmlformats.org/officeDocument/2006/relationships/notesSlide" Target="/ppt/notesSlides/notesSlide12.xml" Id="R83230683e71349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e9593054c4e59" /><Relationship Type="http://schemas.openxmlformats.org/officeDocument/2006/relationships/notesSlide" Target="/ppt/notesSlides/notesSlide13.xml" Id="R1f5e44b1625b45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F4CD0-6D4C-455F-BA1C-659B30BB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93CB8"/>
                </a:solidFill>
              </a:defRPr>
            </a:pPr>
            <a:r>
              <a:rPr sz="975" b="1">
                <a:solidFill>
                  <a:srgbClr val="193CB8"/>
                </a:solidFill>
              </a:rPr>
              <a:t>TRUSTED EMPLOYMENT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EB95F-FA23-4099-85CE-3997F960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857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F172B"/>
                </a:solidFill>
              </a:defRPr>
            </a:pPr>
            <a:r>
              <a:rPr sz="4350" b="1">
                <a:solidFill>
                  <a:srgbClr val="0F172B"/>
                </a:solidFill>
              </a:rPr>
              <a:t>职安盾 VeriWork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11B08-BCB7-4C1A-B348-4E603B5A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556C"/>
                </a:solidFill>
              </a:defRPr>
            </a:pPr>
            <a:r>
              <a:rPr sz="1800" b="0">
                <a:solidFill>
                  <a:srgbClr val="45556C"/>
                </a:solidFill>
              </a:rPr>
              <a:t>面向高校毕业生就业合同的可验证 AI 风险评估与证据链系统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9CE41-8168-4AEA-93A2-60444C0D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3CB8"/>
                </a:solidFill>
              </a:defRPr>
            </a:pPr>
            <a:r>
              <a:rPr sz="1350" b="0">
                <a:solidFill>
                  <a:srgbClr val="193CB8"/>
                </a:solidFill>
              </a:rPr>
              <a:t>规则硬约束  ·  法源可追溯  ·  大模型受限召回  ·  拒答与复核  ·  行动闭环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09BB4-599D-4EBC-8477-4B51E0A1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团队：【待填写】    指导教师：【待填写】</a:t>
            </a:r>
          </a:p>
        </p:txBody>
      </p:sp>
    </p:spTree>
    <p:extLst>
      <p:ext uri="{BB962C8B-B14F-4D97-AF65-F5344CB8AC3E}">
        <p14:creationId xmlns:p14="http://schemas.microsoft.com/office/powerpoint/2010/main" val="264899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589C5-6B57-49D4-9994-179622D2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01 · 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A2A77-840C-4A8A-967E-1E93C52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就业合同风险判断不可信，行动也不闭环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9D25A-5435-4751-86AF-FF2BCF30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05ACD-E6B0-4AA2-B032-4B51F8E1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用户缺少知识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948A6-7CEE-42FB-B4EF-737EB6B2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应届生难以及时识别试用期、社保、押金、培训贷、竞业和离职条款中的风险。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AADD-BBB5-402F-9533-401B25E0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4C98C-A1F4-43D3-8A2D-3EBC8A2B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通用模型会编造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25C60-E02A-4A75-846C-EFE8F8DE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看似专业，但可能引用错误法条，也可能把合法条款判成违法。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19CAA-2B42-44A3-A397-EC75AED0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571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6F37A-E496-44E9-BCA1-48F4B8A1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知道风险也无法行动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A3611-13BC-4B2C-9806-4062E05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用户仍不知道保存什么证据、如何沟通、向谁提交材料。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6BDC0-DFDD-4267-8201-B6A4AEC0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7813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E3E33-A9EF-4E59-94D6-C0CC593E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高后果却难量化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8470F-FA85-4F3E-A411-89F219BA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2362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现有工具极少公开风险召回、错误引用和确定性失败案例。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A9B53-9010-4779-9436-38FBF9CD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B4D00"/>
                </a:solidFill>
              </a:defRPr>
            </a:pPr>
            <a:r>
              <a:rPr sz="1800" b="1">
                <a:solidFill>
                  <a:srgbClr val="BB4D00"/>
                </a:solidFill>
              </a:rPr>
              <a:t>目标：让 AI 在高后果场景里说清依据、承认不确定、给出下一步。</a:t>
            </a:r>
          </a:p>
        </p:txBody>
      </p:sp>
    </p:spTree>
    <p:extLst>
      <p:ext uri="{BB962C8B-B14F-4D97-AF65-F5344CB8AC3E}">
        <p14:creationId xmlns:p14="http://schemas.microsoft.com/office/powerpoint/2010/main" val="465116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58144-B266-44C6-8FB0-5B94E1F9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02 · 为什么不能直接用通用模型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B030B-A087-49DB-84BF-766F9ED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“会回答”不等于“可信任”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44ECC-A113-4CFB-A0EE-F734FBF5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CA7F8-0109-499D-8F65-EDC854D0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没有硬约束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9928F-BF78-4A83-80A9-BDCD5BF9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试用期、社保、收费等硬规则不能交给模型自由生成。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F93E0-4CDA-4FCE-98B8-679F0738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86CFC-32EF-4709-A59B-31694089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没有可追溯依据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984FA-132F-413A-8CFF-80D1F98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结论可能没有原文定位，也可能引用失效或不适用法条。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06FE9-C16F-4373-A3D4-6A0FB8BA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1A8C0-CF62-4643-85D5-E19A5174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B4D00"/>
                </a:solidFill>
              </a:defRPr>
            </a:pPr>
            <a:r>
              <a:rPr sz="1575" b="1">
                <a:solidFill>
                  <a:srgbClr val="BB4D00"/>
                </a:solidFill>
              </a:rPr>
              <a:t>不会主动拒答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0235A-BB62-4270-9F69-1E37A675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信息不足时仍倾向输出完整答案，形成确定但错误的风险结论。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905F8-9324-4D96-9797-A9DB36DF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53340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5E0BE-DDA0-48C7-B87E-41C4A158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无法形成闭环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F05F6-BA39-4205-A9B5-D2CFF7B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91025"/>
            <a:ext cx="4914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回答停留在文本，不能继续生成证据清单和办理路径。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492EE-121D-46AA-9201-DE5BD63A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职安盾研究的不是法律问答，而是大模型在高风险垂直场景中的可信决策机制。</a:t>
            </a:r>
          </a:p>
        </p:txBody>
      </p:sp>
    </p:spTree>
    <p:extLst>
      <p:ext uri="{BB962C8B-B14F-4D97-AF65-F5344CB8AC3E}">
        <p14:creationId xmlns:p14="http://schemas.microsoft.com/office/powerpoint/2010/main" val="1879492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9BDAE-8962-4D72-B702-CB6925BB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03 · 可信链路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32A49-6139-49CC-9208-2768599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六层可信研判链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4302D-355C-48EA-98A1-A71854F6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2BE99-9C07-4022-82E2-ED929567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813CD-0A7A-4999-B2D4-27A418BE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输入层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E0D5B-73BD-4315-A32C-66E8FBD5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合同、Offer、实习协议、聊天与工资记录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856F9-39AE-4CD7-9EC1-A4997976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250EC-EFBC-4F68-ADAF-03BEAE2A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B7BED-9DEA-490D-BDD6-B9474487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抽取层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4AB63-62E7-4596-A0B9-F0F02808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条款切分、关键事实抽取和结构化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383FA-48F4-4C3B-9773-5E6EC656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B59E3-B158-4BF1-B24F-50A1F7B4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5DF5F-0B0A-4B0D-B1F5-91874775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知识层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26D03-D3D9-4D25-8D81-257364B7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公开法源、地方政策和版本追踪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4DC97-0092-40B2-B014-DD40436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618DA-EC61-4EEB-ACCA-8A33201B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5DDB8-8458-4536-B156-0C72107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决策层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9EF23-3B56-43AF-8D67-6481EEDE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确定性规则 + 语义识别 + 大模型候选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91427-DFE4-4A43-A513-1AA361D8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28C8C-9FC6-4F56-B053-DFD6662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CCF21-3E77-45AB-8439-D5811213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校验层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533AB-933E-4B66-9351-48E13C2C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原文校验、引用核查、拒答和人工复核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197A4-9DC5-415A-BE22-F54A234A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52625"/>
            <a:ext cx="16764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B3EC7-58E9-4BD4-92B6-4EB15E3D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52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222C1-FC87-4F61-BD14-D8486EB6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1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行动层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1FB89-9853-4655-8D73-70D5F312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48000"/>
            <a:ext cx="133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证据清单、沟通问题和材料草稿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4DC353-ECDC-4442-AC3E-716A7271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B4D00"/>
                </a:solidFill>
              </a:defRPr>
            </a:pPr>
            <a:r>
              <a:rPr sz="1650" b="1">
                <a:solidFill>
                  <a:srgbClr val="BB4D00"/>
                </a:solidFill>
              </a:rPr>
              <a:t>模型只能补充有原文依据的候选风险，不能修改风险等级或新增法源。</a:t>
            </a:r>
          </a:p>
        </p:txBody>
      </p:sp>
    </p:spTree>
    <p:extLst>
      <p:ext uri="{BB962C8B-B14F-4D97-AF65-F5344CB8AC3E}">
        <p14:creationId xmlns:p14="http://schemas.microsoft.com/office/powerpoint/2010/main" val="382493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33643-0F42-4C2D-A737-A7E31A5B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04 · 产品闭环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1FF27-68AE-4DA9-BB12-FA9E527B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从风险提示走到证据与行动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77ECB-B74B-4191-BE2B-11213CF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F44D1-D8FE-4F65-BD54-2CC236C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合同研判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FE4F1-BA74-4A11-8A58-47560CAA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输出风险分、风险清单、原文片段、法源依据、置信度和行动建议。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3522A-074A-4ECA-AA4A-E62EE66B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D0C1F-6E9D-406B-B4EA-85A22BC2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可信轨迹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6EBAA-DADD-48F9-AA6E-2E7B578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展示规则、语义、法源检索、大模型候选和拒答过程。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9676F-D7FD-44BD-9045-739B9CA6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429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CA678-6187-442A-A0A6-61AD1226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证据与材料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863B0-FC6F-4328-BB6C-EE1CE140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3009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生成证据清单、事件时间线、HR沟通问题和投诉/仲裁材料草稿。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C645A-BA2B-48AE-907A-68B5A58D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93CB8"/>
                </a:solidFill>
              </a:defRPr>
            </a:pPr>
            <a:r>
              <a:rPr sz="1575" b="0">
                <a:solidFill>
                  <a:srgbClr val="193CB8"/>
                </a:solidFill>
              </a:rPr>
              <a:t>现场演示：载入风险合同 → 运行研判 → 查看候选风险 → 条款定位 → 证据链 → 评测。</a:t>
            </a:r>
          </a:p>
        </p:txBody>
      </p:sp>
    </p:spTree>
    <p:extLst>
      <p:ext uri="{BB962C8B-B14F-4D97-AF65-F5344CB8AC3E}">
        <p14:creationId xmlns:p14="http://schemas.microsoft.com/office/powerpoint/2010/main" val="1015363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88C6E-3C1D-4E7E-8517-027BBD5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05 · 创新一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10DB7-9CDE-4449-AE5F-627293C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规则拥有硬约束权，模型只拥有解释权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7EB20-7E96-40E4-9351-B85CDFD4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238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48661-4821-4845-84EB-32FB2BA7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规则引擎：确定性判断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51809-5D3F-43BC-B602-52A6EF77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819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处理试用期期限、社保、押金、培训贷、加班费、竞业限制等规则明确的事项。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2ED52-0888-427F-AEAE-EB0D9C8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5429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B2B93-7A90-4C2D-B620-D2482A60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安全例外：拒绝关键词误伤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3A53E-2AFD-4076-8EE7-E16C8AF6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010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识别“不收取押金”“不低于80%”“三年以上合同六个月试用期”等合法或否定表达。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524E9-FFD1-4880-ABAF-FC072F66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B4D00"/>
                </a:solidFill>
              </a:defRPr>
            </a:pPr>
            <a:r>
              <a:rPr sz="1650" b="1">
                <a:solidFill>
                  <a:srgbClr val="BB4D00"/>
                </a:solidFill>
              </a:rPr>
              <a:t>与普通 RAG 问答最本质的差异：模型输出不能覆盖程序硬规则。</a:t>
            </a:r>
          </a:p>
        </p:txBody>
      </p:sp>
    </p:spTree>
    <p:extLst>
      <p:ext uri="{BB962C8B-B14F-4D97-AF65-F5344CB8AC3E}">
        <p14:creationId xmlns:p14="http://schemas.microsoft.com/office/powerpoint/2010/main" val="4463048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D3FA3-9C84-4C94-8D51-1926B20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06 · 创新二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F09EF-D53D-487F-872B-8CFAFA7B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证据不足时停止“自信地胡说”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9313C-1132-439A-804D-E5D8F56A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238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2ABE7-7058-4385-8156-794F392B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结论绑定原文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27EA8-F0A3-411E-AB29-3EE5667B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819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每项风险必须回到合同中的真实片段。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88B87-11DE-4230-997A-C67CE1F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5429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93E96-16FE-461D-A2E1-DD7268BE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结论绑定法源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83EAE-E325-453F-AB46-6BC6EFDB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501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规则映射核心法源，条款关键词再执行本地检索排序。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167EB-730D-40E0-8B6D-B3B57B4E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5238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A26F5-9FB7-4275-ADA7-D7BB3A51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信息不足进入待核实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DB299-FD1B-4DC8-AC4B-0A22FD41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819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实习、兼职、项目合作和关键条款缺失时不输出确定回答。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C6A9B-007F-46EE-933E-E6595CA7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5429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F9CB7-93BC-413C-8261-F4D625A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保留失败案例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8626-024E-4728-9BC3-012CDBB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91025"/>
            <a:ext cx="5010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错误进入评测报告和下一轮迭代，不通过删除失败样本制造完美指标。</a:t>
            </a:r>
          </a:p>
        </p:txBody>
      </p:sp>
    </p:spTree>
    <p:extLst>
      <p:ext uri="{BB962C8B-B14F-4D97-AF65-F5344CB8AC3E}">
        <p14:creationId xmlns:p14="http://schemas.microsoft.com/office/powerpoint/2010/main" val="527228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13278-55AD-4684-B39A-CDC73CBB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07 · 评测设计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E668C-6D56-437D-AFED-072407F5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把“看起来能用”变成可复现实验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C4A1E-2ED6-4473-BC5D-8FC0D6D2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F7DD4-1A2A-45C1-BD2B-363673BF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80条开发回归集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6F359-FB66-48DA-9E14-A3895491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覆盖13类风险、安全对照和待核实场景，用于规则开发和功能回归。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C750E-7282-45A3-9C4D-2359101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3FB3-2A07-4AEE-A9BF-58B17AF9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32条早期留出集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65C05-23FB-404D-BD20-CCC3EC5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暴露关键词规则在“工装费、毕业证、技能贷款”等新表达上的泛化问题。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6C115-F8B6-4845-A1D3-1848B65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429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F63E5-1A2A-4C89-919B-4978CA8C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40条冻结留出集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EBB64-E5FD-4968-9644-F0A6CB59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09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规则开发后创建，不再针对结果调参，用于报告真实泛化差距。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32AA6-A253-4B1B-A7C9-CB93BF11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所有合成数据均标注来源、难度、期望风险、拒答要求和复核状态。</a:t>
            </a:r>
          </a:p>
        </p:txBody>
      </p:sp>
    </p:spTree>
    <p:extLst>
      <p:ext uri="{BB962C8B-B14F-4D97-AF65-F5344CB8AC3E}">
        <p14:creationId xmlns:p14="http://schemas.microsoft.com/office/powerpoint/2010/main" val="8020757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D6A89-A6B2-470F-9CCB-E1EFB49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08 · 当前实测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B82E5-7B9B-48A6-B2D4-BAAA6243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同轮公平对照：风险指标相当，法源覆盖显著不同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5200B-97DE-477A-B03E-62E9BA6A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5238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93939-FAD8-43F2-8944-D2A79A27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A5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A55"/>
                </a:solidFill>
              </a:defRPr>
            </a:pPr>
            <a:r>
              <a:rPr sz="1575" b="1">
                <a:solidFill>
                  <a:srgbClr val="007A55"/>
                </a:solidFill>
              </a:rPr>
              <a:t>DeepSeek-Flash · 40/40成功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B027F-A131-403C-9605-C379A9B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819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通用模型直答与职安盾混合链：P 96.3% / R 100% / F1 98.1%。混合链法源覆盖从 0% 提升到 100%。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8FA44-30DF-4A1A-9B97-2CA58D92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5429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F39ED-6A42-49BF-98B2-A5AC0D4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B4D00"/>
                </a:solidFill>
              </a:defRPr>
            </a:pPr>
            <a:r>
              <a:rPr sz="1575" b="1">
                <a:solidFill>
                  <a:srgbClr val="BB4D00"/>
                </a:solidFill>
              </a:rPr>
              <a:t>DeepSeek-V4-Pro · 40/40成功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F54F0-CD77-4596-9CED-9FFFD7D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5010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续费并断点续跑后全部完成：P 92.9% / R 100% / F1 96.3%。混合链法源覆盖100%。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B0E16-5928-4897-85F0-722BBB88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B9958-1CE3-45AA-993F-1B302DCB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如何解释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262D8-07B7-47EE-8DD2-7BA34C51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模型在已知风险ID内已有较强语义能力；真正不可替代的是法源可追溯、原文校验、硬规则与拒答边界。不能把合成留出集结果说成真实用户准确率。</a:t>
            </a:r>
          </a:p>
        </p:txBody>
      </p:sp>
    </p:spTree>
    <p:extLst>
      <p:ext uri="{BB962C8B-B14F-4D97-AF65-F5344CB8AC3E}">
        <p14:creationId xmlns:p14="http://schemas.microsoft.com/office/powerpoint/2010/main" val="1255819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2768E-AEDF-4ACA-8DD8-C5221C20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09 · 学校20日截止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50B7C-51F9-4C6F-9956-F1658DED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10天冲刺：先证据，后包装，绝不拖延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71440-E799-4A7E-8B73-9A162911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10月10-11日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FA085-551B-428C-9124-4C6D007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97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确定成员、指导教师和第一申报单位；完成官网注册；确认校内流程。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30987-1A56-4C3B-B477-C11C5CA5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10月12-13日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DE86C-8025-40B3-8A25-778AD9D7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860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完成第二个模型实验；启动20人用户测试；收集测试数据和反馈。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B638C-F226-470A-AAC1-396DBE58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10月14-15日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EE56C-E9DC-4617-B095-46EB2149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法律实务人员抽样复核；核验北京、上海、广东政策原文。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CF7FA-9494-4CB8-A0E1-560DB481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10月16-17日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23CA3-5157-49F7-84AD-B5B5A89A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完成作品介绍、AI说明、知识产权清单；录制演示视频。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CC6F6-BA91-4BCF-9EAD-D77B60DD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3CB8"/>
                </a:solidFill>
              </a:defRPr>
            </a:pPr>
            <a:r>
              <a:rPr sz="1350" b="1">
                <a:solidFill>
                  <a:srgbClr val="193CB8"/>
                </a:solidFill>
              </a:rPr>
              <a:t>10月18-19日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2228B-A732-495C-BE48-70FC4950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149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全流程彩排、无网演示测试、材料终审，提前提交学校。</a:t>
            </a:r>
          </a:p>
        </p:txBody>
      </p:sp>
    </p:spTree>
    <p:extLst>
      <p:ext uri="{BB962C8B-B14F-4D97-AF65-F5344CB8AC3E}">
        <p14:creationId xmlns:p14="http://schemas.microsoft.com/office/powerpoint/2010/main" val="355657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78323-A20A-4385-90D7-26434B7E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10 · 团队分工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0D6EF-F8FB-4014-9A4C-3E78E17A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五个人必须各自对一项证据负责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40BF5-86FD-4DCE-8D50-7497B230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587EB-09F9-4929-B460-94CCADBE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队长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70C3D-69C6-47A9-BE01-EC7E9508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注册、进度、学校沟通、最终提交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EEF8C-0508-4AA4-A5AC-2F0CBEC6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78B28-389A-4F60-9883-A99BE6A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前端/产品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315F1-1AFF-4C23-8AE7-1945BAFD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系统演示、交互、截图、无网彩排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0811F-2DEF-45CF-8F97-5D9FDBE0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55201-2599-48CF-A06D-F1C7EF69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后端/数据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C41B4-99D9-4B50-9982-1FAC0E68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服务运行、隐私、数据说明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FD903-1793-4A26-BA3D-5322D18E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3DB6E-6CBA-426C-AFB0-1FE78D7B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模型/评测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7B96F-B278-41BF-8908-183F1E5D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双模型实验、指标、失败案例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CAFC5-C885-40F5-9954-598CC8AF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000250" cy="2476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6C0AC-64C1-4CDC-B53E-0D656A02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设计/材料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9B08F-463A-4595-9FEE-7A167694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581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PPT、视频、AI说明、来源清单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7416A-BE3D-4E10-91C1-5AB4EC9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B4D00"/>
                </a:solidFill>
              </a:defRPr>
            </a:pPr>
            <a:r>
              <a:rPr sz="1650" b="1">
                <a:solidFill>
                  <a:srgbClr val="BB4D00"/>
                </a:solidFill>
              </a:rPr>
              <a:t>截止时间是20日，任何一项没有负责人，都会在最后两天变成阻塞。</a:t>
            </a:r>
          </a:p>
        </p:txBody>
      </p:sp>
    </p:spTree>
    <p:extLst>
      <p:ext uri="{BB962C8B-B14F-4D97-AF65-F5344CB8AC3E}">
        <p14:creationId xmlns:p14="http://schemas.microsoft.com/office/powerpoint/2010/main" val="10308633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C860F-9A72-4A3A-B8CC-E7AA08EB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93CB8"/>
                </a:solidFill>
              </a:defRPr>
            </a:pPr>
            <a:r>
              <a:rPr sz="900" b="1">
                <a:solidFill>
                  <a:srgbClr val="193CB8"/>
                </a:solidFill>
              </a:rPr>
              <a:t>11 · 应用与边界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CAA91-3C26-4645-A66B-5CF62793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F172B"/>
                </a:solidFill>
              </a:defRPr>
            </a:pPr>
            <a:r>
              <a:rPr sz="2550" b="1">
                <a:solidFill>
                  <a:srgbClr val="0F172B"/>
                </a:solidFill>
              </a:rPr>
              <a:t>面向真实就业服务，但不替代专业判断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C7A73-363B-40E8-87F7-F88D35F4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92CB7-3377-4146-BC69-CD4C5D43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高校就业中心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DB1CD-5A89-4AD1-80F6-83B0CB1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合同自查、就业权益教育、脱敏后的典型风险案例。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667AC-1F16-4871-8A0C-7E7345D7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8727A-4322-4650-BB43-812AB9BB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3CB8"/>
                </a:solidFill>
              </a:defRPr>
            </a:pPr>
            <a:r>
              <a:rPr sz="1575" b="1">
                <a:solidFill>
                  <a:srgbClr val="193CB8"/>
                </a:solidFill>
              </a:rPr>
              <a:t>实习与灵活用工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B4B8D-0187-4A64-96AA-5840123B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覆盖实习、兼职、项目合作等高风险但规则复杂场景。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FEE8B-2F76-4974-98DD-9CFBC5EA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57375"/>
            <a:ext cx="34290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328CA-19D0-4FFF-89DA-195B16D1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B4D0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BB4D00"/>
                </a:solidFill>
              </a:defRPr>
            </a:pPr>
            <a:r>
              <a:rPr sz="1575" b="1">
                <a:solidFill>
                  <a:srgbClr val="BB4D00"/>
                </a:solidFill>
              </a:rPr>
              <a:t>地方政策扩展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4E7D1-BBC2-43C6-9448-9568BC04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30099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全国规则加地方政策包，动态标准必须核验来源和生效日期。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944C6-4DB1-48BC-8E80-9D603B9D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172B"/>
                </a:solidFill>
              </a:defRPr>
            </a:pPr>
            <a:r>
              <a:rPr sz="1575" b="1">
                <a:solidFill>
                  <a:srgbClr val="0F172B"/>
                </a:solidFill>
              </a:rPr>
              <a:t>产品定位：普法、风险提示和材料整理工具，不替代律师、仲裁机构或人社部门。</a:t>
            </a:r>
          </a:p>
        </p:txBody>
      </p:sp>
    </p:spTree>
    <p:extLst>
      <p:ext uri="{BB962C8B-B14F-4D97-AF65-F5344CB8AC3E}">
        <p14:creationId xmlns:p14="http://schemas.microsoft.com/office/powerpoint/2010/main" val="1032151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CF207-9BF3-4EFF-9191-A46E5DCA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93CB8"/>
                </a:solidFill>
              </a:defRPr>
            </a:pPr>
            <a:r>
              <a:rPr sz="1050" b="1">
                <a:solidFill>
                  <a:srgbClr val="193CB8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2C9E5-639A-42C7-92CD-46CB18AD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F172B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F172B"/>
                </a:solidFill>
              </a:defRPr>
            </a:pPr>
            <a:r>
              <a:rPr sz="3450" b="1">
                <a:solidFill>
                  <a:srgbClr val="0F172B"/>
                </a:solidFill>
              </a:rPr>
              <a:t>让高风险场景中的 AI</a:t>
            </a:r>
          </a:p>
          <a:p xmlns:a="http://schemas.openxmlformats.org/drawingml/2006/main">
            <a:pPr>
              <a:defRPr sz="3450" b="1">
                <a:solidFill>
                  <a:srgbClr val="0F172B"/>
                </a:solidFill>
              </a:defRPr>
            </a:pPr>
            <a:r>
              <a:rPr sz="3450" b="1">
                <a:solidFill>
                  <a:srgbClr val="0F172B"/>
                </a:solidFill>
              </a:rPr>
              <a:t>有依据、可验证、能行动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5BE8F-9490-4BE7-9CEF-4425F49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93CB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93CB8"/>
                </a:solidFill>
              </a:defRPr>
            </a:pPr>
            <a:r>
              <a:rPr sz="1800" b="0">
                <a:solidFill>
                  <a:srgbClr val="193CB8"/>
                </a:solidFill>
              </a:rPr>
              <a:t>职安盾 VeriWork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6C4B1-AC3E-445D-8AD3-85446295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团队：【待填写】    指导教师：【待填写】</a:t>
            </a:r>
          </a:p>
        </p:txBody>
      </p:sp>
    </p:spTree>
    <p:extLst>
      <p:ext uri="{BB962C8B-B14F-4D97-AF65-F5344CB8AC3E}">
        <p14:creationId xmlns:p14="http://schemas.microsoft.com/office/powerpoint/2010/main" val="967274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2026-10-12T09:38:34.0360000Z</dcterms:created>
  <dcterms:modified xsi:type="dcterms:W3CDTF">2026-10-12T09:38:34.0360000Z</dcterms:modified>
</coreProperties>
</file>