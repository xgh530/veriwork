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820859729f4eff" /><Relationship Type="http://schemas.openxmlformats.org/officeDocument/2006/relationships/extended-properties" Target="/docProps/app.xml" Id="Rcac7bddb03c5418d" /><Relationship Type="http://schemas.openxmlformats.org/officeDocument/2006/relationships/officeDocument" Target="/ppt/presentation.xml" Id="Ra9bec804007241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2e388cbf124794"/>
  </p:sldMasterIdLst>
  <p:notesMasterIdLst>
    <p:notesMasterId xmlns:r="http://schemas.openxmlformats.org/officeDocument/2006/relationships" r:id="R4fa97e1bd9914680"/>
  </p:notesMasterIdLst>
  <p:sldIdLst>
    <p:sldId xmlns:r="http://schemas.openxmlformats.org/officeDocument/2006/relationships" id="256" r:id="Re31c072389514c07"/>
    <p:sldId xmlns:r="http://schemas.openxmlformats.org/officeDocument/2006/relationships" id="257" r:id="R0cda91a172dd4b1b"/>
    <p:sldId xmlns:r="http://schemas.openxmlformats.org/officeDocument/2006/relationships" id="258" r:id="Re4e308fbc5b945b0"/>
    <p:sldId xmlns:r="http://schemas.openxmlformats.org/officeDocument/2006/relationships" id="259" r:id="R8d3e3d9f36504fd1"/>
    <p:sldId xmlns:r="http://schemas.openxmlformats.org/officeDocument/2006/relationships" id="260" r:id="Ra7304bd8cf6249fc"/>
    <p:sldId xmlns:r="http://schemas.openxmlformats.org/officeDocument/2006/relationships" id="261" r:id="R23f0c55349c74b45"/>
    <p:sldId xmlns:r="http://schemas.openxmlformats.org/officeDocument/2006/relationships" id="262" r:id="R3096aae561bd42e2"/>
    <p:sldId xmlns:r="http://schemas.openxmlformats.org/officeDocument/2006/relationships" id="263" r:id="Ra3ae2fc90f1d459e"/>
    <p:sldId xmlns:r="http://schemas.openxmlformats.org/officeDocument/2006/relationships" id="264" r:id="R751f922c01a64d58"/>
    <p:sldId xmlns:r="http://schemas.openxmlformats.org/officeDocument/2006/relationships" id="265" r:id="R23dd9feb54d0451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3e4c77dc344f5d" /><Relationship Type="http://schemas.openxmlformats.org/officeDocument/2006/relationships/slideMaster" Target="/ppt/slideMasters/slideMaster1.xml" Id="Rc52e388cbf124794" /><Relationship Type="http://schemas.openxmlformats.org/officeDocument/2006/relationships/notesMaster" Target="/ppt/notesMasters/notesMaster1.xml" Id="R4fa97e1bd9914680" /><Relationship Type="http://schemas.openxmlformats.org/officeDocument/2006/relationships/presProps" Target="/ppt/presProps.xml" Id="Rd6f4ac98727a4c2f" /><Relationship Type="http://schemas.openxmlformats.org/officeDocument/2006/relationships/tableStyles" Target="/ppt/tableStyles.xml" Id="R8b1656b6636d428e" /><Relationship Type="http://schemas.openxmlformats.org/officeDocument/2006/relationships/slide" Target="/ppt/slides/slide1.xml" Id="Re31c072389514c07" /><Relationship Type="http://schemas.openxmlformats.org/officeDocument/2006/relationships/slide" Target="/ppt/slides/slide2.xml" Id="R0cda91a172dd4b1b" /><Relationship Type="http://schemas.openxmlformats.org/officeDocument/2006/relationships/slide" Target="/ppt/slides/slide3.xml" Id="Re4e308fbc5b945b0" /><Relationship Type="http://schemas.openxmlformats.org/officeDocument/2006/relationships/slide" Target="/ppt/slides/slide4.xml" Id="R8d3e3d9f36504fd1" /><Relationship Type="http://schemas.openxmlformats.org/officeDocument/2006/relationships/slide" Target="/ppt/slides/slide5.xml" Id="Ra7304bd8cf6249fc" /><Relationship Type="http://schemas.openxmlformats.org/officeDocument/2006/relationships/slide" Target="/ppt/slides/slide6.xml" Id="R23f0c55349c74b45" /><Relationship Type="http://schemas.openxmlformats.org/officeDocument/2006/relationships/slide" Target="/ppt/slides/slide7.xml" Id="R3096aae561bd42e2" /><Relationship Type="http://schemas.openxmlformats.org/officeDocument/2006/relationships/slide" Target="/ppt/slides/slide8.xml" Id="Ra3ae2fc90f1d459e" /><Relationship Type="http://schemas.openxmlformats.org/officeDocument/2006/relationships/slide" Target="/ppt/slides/slide9.xml" Id="R751f922c01a64d58" /><Relationship Type="http://schemas.openxmlformats.org/officeDocument/2006/relationships/slide" Target="/ppt/slides/slide10.xml" Id="R23dd9feb54d045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8528a461c6d4e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9ca6b8f31e49b4" /><Relationship Type="http://schemas.openxmlformats.org/officeDocument/2006/relationships/notesMaster" Target="/ppt/notesMasters/notesMaster1.xml" Id="R0a0351420ba74de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f3959e4bee4cdf" /><Relationship Type="http://schemas.openxmlformats.org/officeDocument/2006/relationships/notesMaster" Target="/ppt/notesMasters/notesMaster1.xml" Id="R8f379d315ffe49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c209e7709b412d" /><Relationship Type="http://schemas.openxmlformats.org/officeDocument/2006/relationships/notesMaster" Target="/ppt/notesMasters/notesMaster1.xml" Id="R0f67b357e0084c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d021cb357542d7" /><Relationship Type="http://schemas.openxmlformats.org/officeDocument/2006/relationships/notesMaster" Target="/ppt/notesMasters/notesMaster1.xml" Id="R187a4ae7575a48c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98c723c33bf4454" /><Relationship Type="http://schemas.openxmlformats.org/officeDocument/2006/relationships/notesMaster" Target="/ppt/notesMasters/notesMaster1.xml" Id="R09abaf4c9b68408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9c58e8a32064a49" /><Relationship Type="http://schemas.openxmlformats.org/officeDocument/2006/relationships/notesMaster" Target="/ppt/notesMasters/notesMaster1.xml" Id="R8d41932929784fc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90eef1fdfc64cba" /><Relationship Type="http://schemas.openxmlformats.org/officeDocument/2006/relationships/notesMaster" Target="/ppt/notesMasters/notesMaster1.xml" Id="Rea1bdab32b94466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4c9e70ae8c94af0" /><Relationship Type="http://schemas.openxmlformats.org/officeDocument/2006/relationships/notesMaster" Target="/ppt/notesMasters/notesMaster1.xml" Id="R944dd1f4192c4c6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d5ceb91e24e4c77" /><Relationship Type="http://schemas.openxmlformats.org/officeDocument/2006/relationships/notesMaster" Target="/ppt/notesMasters/notesMaster1.xml" Id="R6682f4912c35418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1f0e209107d45ad" /><Relationship Type="http://schemas.openxmlformats.org/officeDocument/2006/relationships/notesMaster" Target="/ppt/notesMasters/notesMaster1.xml" Id="R6ae6e16bf2f148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评测口径：80条开发回归集与40条冻结留出集；冻结留出集创建后不再根据结果调规则。</a:t>
            </a:r>
          </a:p>
          <a:p xmlns:a="http://schemas.openxmlformats.org/drawingml/2006/main">
            <a:r>
              <a:t>10名用户测试用于形成性可用性验证，不用于宣称模型准确率。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北京：北京市人社局，2025-09-01起，2540元/月、27.7元/小时。</a:t>
            </a:r>
          </a:p>
          <a:p xmlns:a="http://schemas.openxmlformats.org/drawingml/2006/main">
            <a:r>
              <a:t>上海：上海市人社局，2025-07-01起，2740元/月、25元/小时。</a:t>
            </a:r>
          </a:p>
          <a:p xmlns:a="http://schemas.openxmlformats.org/drawingml/2006/main">
            <a:r>
              <a:t>广东：广东省人社厅，2026-09-01起，2680/2300/2040元/月。</a:t>
            </a:r>
          </a:p>
          <a:p xmlns:a="http://schemas.openxmlformats.org/drawingml/2006/main">
            <a:r>
              <a:t>深圳：深圳市人社局，2026-09-01起，2700元/月、25.4元/小时。</a:t>
            </a:r>
          </a:p>
          <a:p xmlns:a="http://schemas.openxmlformats.org/drawingml/2006/main">
            <a:r>
              <a:t>重庆：重庆市政府/市人社局，2025-01-01起，2330/2200元/月。</a:t>
            </a:r>
          </a:p>
          <a:p xmlns:a="http://schemas.openxmlformats.org/drawingml/2006/main">
            <a:r>
              <a:t>其余地区使用人社部截至2026-10-01汇总值，标注待属地原文复核。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d7895e3309418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83b00d9ff74e6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37345f7e5d4dc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fbe01f6856418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5713568ac64df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22cafa9f964e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8B94895-497D-4AB1-89A2-1409BCAC7F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6D75A06-3A79-486D-BEA4-53DFF07755B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F28DA09-D564-48C6-94BA-22B6BEE294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5D83EEB-A0A2-4DB3-ACCC-8BCA033EA2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270E474-752C-44BD-9863-7BD769ABFB5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7985C8B-7B98-46FC-9D27-075F3112AD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564F3EA-7978-41F7-A06C-CF409D1C86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E9E142A-2E33-488F-B1BA-5BB00D14FCF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ED1B97A-F4C8-459D-A0CA-65C9ED8FD3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770E793-03BB-4125-8175-C9EE2BFA286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1da38ddc454dd1" /><Relationship Type="http://schemas.openxmlformats.org/officeDocument/2006/relationships/slideLayout" Target="/ppt/slideLayouts/slideLayout1.xml" Id="Re622ea69fb454415" /><Relationship Type="http://schemas.openxmlformats.org/officeDocument/2006/relationships/slideLayout" Target="/ppt/slideLayouts/slideLayout2.xml" Id="Rec654b30ac174f4d" /><Relationship Type="http://schemas.openxmlformats.org/officeDocument/2006/relationships/slideLayout" Target="/ppt/slideLayouts/slideLayout3.xml" Id="R546eb8ecafc543c3" /><Relationship Type="http://schemas.openxmlformats.org/officeDocument/2006/relationships/slideLayout" Target="/ppt/slideLayouts/slideLayout4.xml" Id="Raca50a3435f64f76" /><Relationship Type="http://schemas.openxmlformats.org/officeDocument/2006/relationships/slideLayout" Target="/ppt/slideLayouts/slideLayout5.xml" Id="Rcb044df8033842a0" /><Relationship Type="http://schemas.openxmlformats.org/officeDocument/2006/relationships/slideLayout" Target="/ppt/slideLayouts/slideLayout6.xml" Id="Rfcfc9e782751434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22ea69fb454415"/>
    <p:sldLayoutId xmlns:r="http://schemas.openxmlformats.org/officeDocument/2006/relationships" id="2147483650" r:id="Rec654b30ac174f4d"/>
    <p:sldLayoutId xmlns:r="http://schemas.openxmlformats.org/officeDocument/2006/relationships" id="2147483651" r:id="R546eb8ecafc543c3"/>
    <p:sldLayoutId xmlns:r="http://schemas.openxmlformats.org/officeDocument/2006/relationships" id="2147483652" r:id="Raca50a3435f64f76"/>
    <p:sldLayoutId xmlns:r="http://schemas.openxmlformats.org/officeDocument/2006/relationships" id="2147483653" r:id="Rcb044df8033842a0"/>
    <p:sldLayoutId xmlns:r="http://schemas.openxmlformats.org/officeDocument/2006/relationships" id="2147483654" r:id="Rfcfc9e782751434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ad850299df4e5a" /><Relationship Type="http://schemas.openxmlformats.org/officeDocument/2006/relationships/notesSlide" Target="/ppt/notesSlides/notesSlide1.xml" Id="R9eeef56e9d1747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665f7fcb574038" /><Relationship Type="http://schemas.openxmlformats.org/officeDocument/2006/relationships/notesSlide" Target="/ppt/notesSlides/notesSlide2.xml" Id="Rbc24e299b751412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5317686c0e4c56" /><Relationship Type="http://schemas.openxmlformats.org/officeDocument/2006/relationships/notesSlide" Target="/ppt/notesSlides/notesSlide3.xml" Id="Ree27d6777fce4a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93b3bc28a742d2" /><Relationship Type="http://schemas.openxmlformats.org/officeDocument/2006/relationships/image" Target="/ppt/media/image.png" Id="Rb8fe4fa1a9f74016" /><Relationship Type="http://schemas.openxmlformats.org/officeDocument/2006/relationships/notesSlide" Target="/ppt/notesSlides/notesSlide4.xml" Id="R0d8b06fe20a04ce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532dd1f3824d42" /><Relationship Type="http://schemas.openxmlformats.org/officeDocument/2006/relationships/image" Target="/ppt/media/image2.png" Id="Rf436abfc57bd4c63" /><Relationship Type="http://schemas.openxmlformats.org/officeDocument/2006/relationships/notesSlide" Target="/ppt/notesSlides/notesSlide5.xml" Id="R7a5774300f1f4a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cf2ca07aa04647" /><Relationship Type="http://schemas.openxmlformats.org/officeDocument/2006/relationships/notesSlide" Target="/ppt/notesSlides/notesSlide6.xml" Id="R4301c6e15fc7401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94f623802b4f64" /><Relationship Type="http://schemas.openxmlformats.org/officeDocument/2006/relationships/image" Target="/ppt/media/image3.png" Id="Rbf8f58e622844ea6" /><Relationship Type="http://schemas.openxmlformats.org/officeDocument/2006/relationships/notesSlide" Target="/ppt/notesSlides/notesSlide7.xml" Id="R321ef70ee2b946b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89fd5ee36a497d" /><Relationship Type="http://schemas.openxmlformats.org/officeDocument/2006/relationships/notesSlide" Target="/ppt/notesSlides/notesSlide8.xml" Id="Rdc4db4368fd544e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698771a8e54d5d" /><Relationship Type="http://schemas.openxmlformats.org/officeDocument/2006/relationships/notesSlide" Target="/ppt/notesSlides/notesSlide9.xml" Id="Rd1cf46793a1d4b5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03cd0a952e4b1c" /><Relationship Type="http://schemas.openxmlformats.org/officeDocument/2006/relationships/notesSlide" Target="/ppt/notesSlides/notesSlide10.xml" Id="R97db44158b104df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20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B8985E-0DC4-4034-B290-B07E15FE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A9C5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A9C5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A9C5D8"/>
                </a:solidFill>
                <a:latin typeface="Microsoft YaHei"/>
                <a:ea typeface="Microsoft YaHei"/>
                <a:cs typeface="Microsoft YaHei"/>
              </a:rPr>
              <a:t>2026 第十四届全国大学生数字媒体科技作品及创意竞赛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3A1BE4-1156-49D0-9FAD-DC975D66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职安盾 VeriWork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446961-F44D-4807-BE08-C90056DE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D6E2E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6E2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D6E2EC"/>
                </a:solidFill>
                <a:latin typeface="Microsoft YaHei"/>
                <a:ea typeface="Microsoft YaHei"/>
                <a:cs typeface="Microsoft YaHei"/>
              </a:rPr>
              <a:t>就业协议与合同的可验证 AI 风险评估与证据链系统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0D7037-C3BD-469C-9556-0035CED7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B8D6"/>
          </a:solidFill>
          <a:ln xmlns:a="http://schemas.openxmlformats.org/drawingml/2006/main" w="0">
            <a:solidFill>
              <a:srgbClr val="8FB8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A15AD3-96CE-4075-9E39-4689FFEB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B9CB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B9CB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9CBD9"/>
                </a:solidFill>
                <a:latin typeface="Microsoft YaHei"/>
                <a:ea typeface="Microsoft YaHei"/>
                <a:cs typeface="Microsoft YaHei"/>
              </a:rPr>
              <a:t>规则优先  ·  模型辅助  ·  人工复核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A1FCA2-28F8-4DA3-ADB6-78032233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8FA7B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8FA7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FA7BA"/>
                </a:solidFill>
                <a:latin typeface="Microsoft YaHei"/>
                <a:ea typeface="Microsoft YaHei"/>
                <a:cs typeface="Microsoft YaHei"/>
              </a:rPr>
              <a:t>Web / PC / Mobile  ·  劳动合同 / 实习协议 / 三方协议 / 聊天截图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9D7D83-7A45-44CD-ABA4-ED5F07AF1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428750"/>
            <a:ext cx="2381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46C73"/>
          </a:solidFill>
          <a:ln xmlns:a="http://schemas.openxmlformats.org/drawingml/2006/main" w="9525">
            <a:solidFill>
              <a:srgbClr val="33536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663103-2DFF-482B-87A2-3499B2F14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6002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>
                <a:solidFill>
                  <a:srgbClr val="9FC3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9FC3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9FC3D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44FF99-9F1A-47C2-903F-86EE1ACE4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6002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材料识别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5585CE-03A0-4231-9074-AE784EAA8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57450"/>
            <a:ext cx="2381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A5561"/>
          </a:solidFill>
          <a:ln xmlns:a="http://schemas.openxmlformats.org/drawingml/2006/main" w="9525">
            <a:solidFill>
              <a:srgbClr val="33536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CC231C-4AB6-4990-BCE6-49670693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2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>
                <a:solidFill>
                  <a:srgbClr val="9FC3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9FC3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9FC3D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3AF12D-7E26-4F2F-B150-D1D16ADD0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6289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事实抽取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80C693-B906-409B-B72D-A6C665F3D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486150"/>
            <a:ext cx="2381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234B63"/>
          </a:solidFill>
          <a:ln xmlns:a="http://schemas.openxmlformats.org/drawingml/2006/main" w="9525">
            <a:solidFill>
              <a:srgbClr val="33536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A873CB-28AD-4759-8EA1-CD673727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6576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>
                <a:solidFill>
                  <a:srgbClr val="9FC3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9FC3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9FC3D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945C5A-CC90-43ED-974F-B3D13A9A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6576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风险研判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C38EC1-5276-4BFA-BD3A-588D5E0C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514850"/>
            <a:ext cx="2381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29445F"/>
          </a:solidFill>
          <a:ln xmlns:a="http://schemas.openxmlformats.org/drawingml/2006/main" w="9525">
            <a:solidFill>
              <a:srgbClr val="33536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527935-72C6-4BFC-8640-FBB4062F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6863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>
                <a:solidFill>
                  <a:srgbClr val="9FC3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9FC3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9FC3D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E60C55-61E2-47F0-9D3F-04968649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6863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报告与证据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182BA2-701A-49AA-B99B-90EA3AEFD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8102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8FA7B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8FA7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FA7BA"/>
                </a:solidFill>
                <a:latin typeface="Microsoft YaHei"/>
                <a:ea typeface="Microsoft YaHei"/>
                <a:cs typeface="Microsoft YaHei"/>
              </a:rPr>
              <a:t>演示地址：8.133.222.0/veriwork</a:t>
            </a:r>
          </a:p>
        </p:txBody>
      </p:sp>
    </p:spTree>
    <p:extLst>
      <p:ext uri="{BB962C8B-B14F-4D97-AF65-F5344CB8AC3E}">
        <p14:creationId xmlns:p14="http://schemas.microsoft.com/office/powerpoint/2010/main" val="21101920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D0BA4B-B81E-4C23-A396-82EB59E9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rPr>
              <a:t>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D46674-B2FA-4FC9-A06D-41B6358F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1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三份材料，三个断点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66D263-99F1-4A05-AAC4-FD197AAD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3429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3C349B-705D-44EF-B105-FE3FA9B3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753716-C130-4B3B-A7C7-ABFF7537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051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实习协议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E899A0-09CC-4FF6-BF8E-50061314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rPr>
              <a:t>补贴、保险、派驻关系看不清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787CBF-C428-4DFE-8CAD-FD905CD4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F3680E-16A9-45D1-931F-D0D37E40D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不知道自己是不是“只是实习”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BA840D-0660-43AA-8231-207C5EB7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52650"/>
            <a:ext cx="3429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6C22E2-8C04-40D7-AF30-7C7158445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431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EE73E6-0B77-4D69-A91E-D436BBE1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051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三方协议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203DA1-33C2-4E8C-87F5-BFBE16AA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7660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rPr>
              <a:t>违约金、档案、户口、报到安排分散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2F07DF-5E45-47A2-9475-0C0F964D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719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5FA76F-C177-41FF-AEA9-8464CAA7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005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不知道签约后还要不要劳动合同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128FAD-6DB6-482E-B64F-2672A402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52650"/>
            <a:ext cx="3429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0B0C62-5CE3-4DEA-8886-4486C97EF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431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7FA1BF-3608-46F8-BBB4-E88B3E9D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051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劳动合同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41DE58-1E15-475D-88DA-505980245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7660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rPr>
              <a:t>试用期、社保、加班、离职限制藏在条款里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7E771D-AD3D-4818-B13D-BBC16DC2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719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44537A-DA53-4802-8318-8B87FA122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005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不知道哪一条该谈、该怎么留证据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2E9DE3-B76A-4683-8921-203A5F81E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F2033"/>
          </a:solidFill>
          <a:ln xmlns:a="http://schemas.openxmlformats.org/drawingml/2006/main" w="0">
            <a:solidFill>
              <a:srgbClr val="0F203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10B818-FDCD-4C84-BEDA-5C065765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通用大模型能回答，但不能保证有依据、可追溯、可执行。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626BCC-A7D4-4836-AE26-C9DFC8336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rPr>
              <a:t>职安盾 VeriWork · 2026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DB63FB-F7D5-4481-A6AE-1D393C4BF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145796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5E3470C-82D5-442B-806C-766F3755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rPr>
              <a:t>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288F55-E5BA-4A25-A409-045CF817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1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一条链路，把材料变成可执行报告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0D54CF-9D0A-4E2B-A998-90E2CC4F0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638300" cy="22479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60F475-AD01-410F-A733-B9CE0D86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D760AD-5E08-4F55-984F-427F869D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材料识别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BB9D0D-8458-4AC9-BA9D-89E7271E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1295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rPr>
              <a:t>合同 / 三方协议</a:t>
            </a:r>
          </a:p>
          <a:p xmlns:a="http://schemas.openxmlformats.org/drawingml/2006/main">
            <a:pPr algn="l">
              <a:def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rPr>
              <a:t>实习协议 / 聊天截图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6798D7-7AB4-47D5-B242-51890D06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1432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9CB4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9CB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4C7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399FA2-503F-4649-AF3F-D2032C8D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247900"/>
            <a:ext cx="1638300" cy="22479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BB278E-3BB1-4098-8440-CE18A58D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4193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29851D-0817-49BB-BF1F-3A906A33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72415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事实抽取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D42EED-59E6-4332-8FED-69E0AAB4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276600"/>
            <a:ext cx="1295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rPr>
              <a:t>主体 / 学校 / 地点</a:t>
            </a:r>
          </a:p>
          <a:p xmlns:a="http://schemas.openxmlformats.org/drawingml/2006/main">
            <a:pPr algn="l">
              <a:def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rPr>
              <a:t>期限 / 报酬 / 违约金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DA05C2-F247-4662-AD44-0C2113B9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1432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9CB4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9CB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4C7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D68E25-96D9-4B38-B928-3EE711BD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47900"/>
            <a:ext cx="1638300" cy="22479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EAF3F3"/>
          </a:solidFill>
          <a:ln xmlns:a="http://schemas.openxmlformats.org/drawingml/2006/main" w="9525">
            <a:solidFill>
              <a:srgbClr val="B7D8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F86719-D03F-4E75-9A68-39CA74E6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193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721F90-B222-4A7F-B31E-5C1853A9F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2415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规则 + 法源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56F90B-9354-496F-AB63-67374199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76600"/>
            <a:ext cx="1295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rPr>
              <a:t>硬约束规则</a:t>
            </a:r>
          </a:p>
          <a:p xmlns:a="http://schemas.openxmlformats.org/drawingml/2006/main">
            <a:pPr algn="l">
              <a:def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rPr>
              <a:t>公开法律与政策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BF5460-B63C-4464-88C0-B8169B345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1432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9CB4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9CB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4C7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CD6D08-DA01-4E63-85B9-87EDCC85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47900"/>
            <a:ext cx="1638300" cy="22479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787464-653A-4102-837C-709C66F7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193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D36B99-00AC-410D-A6A3-E6C64556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2415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模型候选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0267B3-CBA4-4BEE-96AE-3558AD89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76600"/>
            <a:ext cx="1295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rPr>
              <a:t>只在允许风险ID内</a:t>
            </a:r>
          </a:p>
          <a:p xmlns:a="http://schemas.openxmlformats.org/drawingml/2006/main">
            <a:pPr algn="l">
              <a:def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rPr>
              <a:t>必须命中原文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03D16A-3D9E-4686-ADD7-4F5EF658F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432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9CB4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9CB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4C7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986855-F7F2-4200-A334-4E3B8AA3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47900"/>
            <a:ext cx="1638300" cy="22479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587E21-3DD3-4036-BF7E-FD4DA5ED7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193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99FCE5-A97B-486E-AC53-13A8B390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2415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人工复核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C3D260-C035-4676-817E-7A262F27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76600"/>
            <a:ext cx="1295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rPr>
              <a:t>无依据或信息不足</a:t>
            </a:r>
          </a:p>
          <a:p xmlns:a="http://schemas.openxmlformats.org/drawingml/2006/main">
            <a:pPr algn="l">
              <a:def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rPr>
              <a:t>标记待核实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83CFBF-5596-40BB-8EC2-09D23F030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1432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9CB4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9CB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4C7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4F084F-D212-496B-AD9E-26EF8E14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247900"/>
            <a:ext cx="1638300" cy="22479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832BAC-90F3-4142-8296-4021F7DA3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4193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2E76C8-82C2-4A4C-86D5-675EEF3D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72415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证据行动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A6E081-741F-4D67-8965-B951A666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276600"/>
            <a:ext cx="1295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rPr>
              <a:t>报告 / 证据清单</a:t>
            </a:r>
          </a:p>
          <a:p xmlns:a="http://schemas.openxmlformats.org/drawingml/2006/main">
            <a:pPr algn="l">
              <a:def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rPr>
              <a:t>沟通与办理路径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AFC666-01E5-473C-8C87-2514391C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972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72B40"/>
          </a:solidFill>
          <a:ln xmlns:a="http://schemas.openxmlformats.org/drawingml/2006/main" w="0">
            <a:solidFill>
              <a:srgbClr val="172B4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8B0CC6-E3D5-45B7-B480-7ACABC8C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拖入微信截图  →  识别三方协议  →  抽取甲方/学校/岗位/违约金  →  发现风险  →  生成报告和证据清单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471B24-9A27-4A0C-B43F-ACD3EE66F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rPr>
              <a:t>职安盾 VeriWork · 2026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2B4572-BA6B-4202-A05B-53D0B14EA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416444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4AC4AC-AF83-4972-86A5-BC1845010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rPr>
              <a:t>材料入口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2986DB-C466-4E58-974A-2F1387E2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1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微信 / QQ 截图也能直接进入研判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219001-BFFE-43B8-9CE4-BEA7033E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rPr>
              <a:t>支持 PDF、Word、TXT 和 PNG/JPG/WEBP 图片；可一次拖入多张聊天截图，也可以 Ctrl+V 粘贴。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DCD8FF-DFBE-45E0-9F62-A1D28FC4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24003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68B4A3-091F-460F-B865-79307FCD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拖拽上传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A67F27-EED7-4673-A5BC-252A2999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88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88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rPr>
              <a:t>从微信、QQ 或桌面直接拖入图片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A7F83B-9403-4F3A-8992-1372322DA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933700"/>
            <a:ext cx="24003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84F168-FE3B-42B4-A40C-CB7D7205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670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OCR 识别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F9FC80-3B20-48BC-8E80-B9E3A97C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337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88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88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rPr>
              <a:t>中文 / 英文 / 日文，识别后进入文本框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A23AD9-2BD0-433B-807C-1192ACBB3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24003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369D13-A083-4196-9923-55D727A74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人工校对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344B41-B772-4772-B3A0-4BF0244A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243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88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88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rPr>
              <a:t>识别结果可修改，再运行可信研判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2BF5F0-D133-462D-AD12-A45C69DB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24300"/>
            <a:ext cx="24003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AAB78A-30FB-4A11-9215-73BE96B11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0576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多图合并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FD06F4-2CA8-4D89-94E3-2E4973116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3243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88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88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rPr>
              <a:t>多张截图按页合并，保留页码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F405F8-1C61-4010-A143-AA9295E3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95450"/>
            <a:ext cx="53911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AFA905-5584-446D-BA75-F10CFF7259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fe4fa1a9f74016"/>
          <a:stretch xmlns:a="http://schemas.openxmlformats.org/drawingml/2006/main"/>
        </p:blipFill>
        <p:spPr>
          <a:xfrm xmlns:a="http://schemas.openxmlformats.org/drawingml/2006/main">
            <a:off x="6419850" y="2846665"/>
            <a:ext cx="4933950" cy="555069"/>
          </a:xfrm>
          <a:prstGeom xmlns:a="http://schemas.openxmlformats.org/drawingml/2006/main" prst="roundRect">
            <a:avLst>
              <a:gd name="adj" fmla="val 3226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897D8C-D415-4638-9C59-69196FE9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62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rPr>
              <a:t>识别链路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B3DA01-C4EE-4FD8-A087-FC91770C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67300"/>
            <a:ext cx="539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图片  →  OCR  →  文本校对  →  可信研判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A36D56-345E-4057-90BE-E4F5820CA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62600"/>
            <a:ext cx="539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rPr>
              <a:t>OCR 结果不直接作为最终结论；识别误差由用户在文本框中修正。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7689F8-9354-4946-9292-901DD7B3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rPr>
              <a:t>职安盾 VeriWork · 2026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747984-A30E-4ACE-97B7-CDFCACE8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289043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6CE9EB-CD17-4D72-BD68-8FA8AF0A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rPr>
              <a:t>场景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1AB6EE-4CE0-4875-819B-C2B946D6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1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三方协议不是劳动合同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C46F5F-AFBC-441B-9EAC-D442FA5B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6002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BB3DE1-CD11-4CE9-AB9E-9790E6931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rPr>
              <a:t>甲方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75AB3C-0C15-4801-A9A7-AE3325CA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用人单位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ED5FE4-E39E-4036-89AF-A86E7483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38350"/>
            <a:ext cx="16002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91E1C9-2E0B-4093-AB94-6251F879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1526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rPr>
              <a:t>丙方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B70FA1-54BE-473C-9784-B3B7BBC22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4003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学校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F6EF45-1D09-458F-8222-1A90B4F8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038350"/>
            <a:ext cx="16002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0AB3AD-8354-45FE-9484-3DD5635E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526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rPr>
              <a:t>岗位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3AC9F5-49DE-42EC-BDC3-0654FC51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003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测试工程师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C0C064-96CA-4B33-9835-B666851C3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6002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A88769-B376-40DA-BFC9-45A13B010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rPr>
              <a:t>报到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E44925-32CA-4146-930E-D7655C72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909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2026-07-01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E28191-A978-4EAC-9CB2-02607CA38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28950"/>
            <a:ext cx="16002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34390E-F187-4D38-A8B4-5F849887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1432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rPr>
              <a:t>违约金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CF4C4E-FA85-498A-8C16-9E2ABEE92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3909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20000元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51ADA1-A4F9-4D2F-BEB1-E4B8573C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028950"/>
            <a:ext cx="16002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29F706-352A-47AB-99DB-182CA2E0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432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rPr>
              <a:t>档案/户口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9E11ED-49B7-4959-9C5D-DD5C587E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909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待核实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2AA68D-5EF3-4FAB-9096-52F40D51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rPr>
              <a:t>系统会同时识别：签约单位、学校、实际用工单位、岗位、报到日期、试用期、月薪、违约金和档案户口安排。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2CDE8F-6567-4053-BC39-C5453C51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5143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DECEA"/>
          </a:solidFill>
          <a:ln xmlns:a="http://schemas.openxmlformats.org/drawingml/2006/main" w="9525">
            <a:solidFill>
              <a:srgbClr val="EFC7C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845E2D-F92A-4FFC-9FD7-3867D5A2B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rPr>
              <a:t>重要边界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97A838-D31B-48F0-9104-DE71974F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43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7A271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7A2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A271A"/>
                </a:solidFill>
                <a:latin typeface="Microsoft YaHei"/>
                <a:ea typeface="Microsoft YaHei"/>
                <a:cs typeface="Microsoft YaHei"/>
              </a:rPr>
              <a:t>三方协议不能替代劳动合同；入职后仍应依法签订书面劳动合同。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C6F5A0-2219-4FD3-A87B-A7A5091D7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95450"/>
            <a:ext cx="5391150" cy="41719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4E9F88-A498-400A-B39A-D7FD416A36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36abfc57bd4c63"/>
          <a:srcRect xmlns:a="http://schemas.openxmlformats.org/drawingml/2006/main" l="0" t="4826" r="0" b="4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9850" y="1924050"/>
            <a:ext cx="4933950" cy="3714750"/>
          </a:xfrm>
          <a:prstGeom xmlns:a="http://schemas.openxmlformats.org/drawingml/2006/main" prst="roundRect">
            <a:avLst>
              <a:gd name="adj" fmla="val 2051"/>
            </a:avLst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318187-3A20-467A-AA40-E4468537E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019800"/>
            <a:ext cx="539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rPr>
              <a:t>自动识别为“三方协议” · 高风险 · 多项待核实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A5E071-1858-4252-A5FF-2FF9E4E50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rPr>
              <a:t>职安盾 VeriWork · 2026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63EB2A-1542-4A84-AC9A-D19CD893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644693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3E06CC-EA5F-4EAC-ACF1-FEBE64A97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rPr>
              <a:t>可信链路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52C73B-0C2E-4A6F-B878-EBF178EFC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1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规则拥有硬约束权，模型只做候选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F4067E-2DCC-42DB-9FAD-E7194D95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25146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B31D13-4C24-4C4C-A943-D13303B3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5C63"/>
          </a:solidFill>
          <a:ln xmlns:a="http://schemas.openxmlformats.org/drawingml/2006/main" w="0">
            <a:solidFill>
              <a:srgbClr val="0D5C6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9D3E1E-868C-48E4-8CAC-41BABE20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A06D7E-CC38-43B9-B954-1EF3790C3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确定性规则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DEE04C-8B09-40EE-B101-37DE6E6D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1981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rPr>
              <a:t>试用期 / 社保 / 押金</a:t>
            </a:r>
          </a:p>
          <a:p xmlns:a="http://schemas.openxmlformats.org/drawingml/2006/main">
            <a:pPr algn="l">
              <a:def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rPr>
              <a:t>加班 / 离职限制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E7061E-479E-44E3-A672-21A463D8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76450"/>
            <a:ext cx="25146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43CB1D-CA48-4BEA-8058-22FC5E89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764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70"/>
          </a:solidFill>
          <a:ln xmlns:a="http://schemas.openxmlformats.org/drawingml/2006/main" w="0">
            <a:solidFill>
              <a:srgbClr val="1E5B7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11C821-0AA8-4537-87CE-D2FD717B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66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1">
                <a:solidFill>
                  <a:srgbClr val="1E5B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1E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1E5B7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AE9CFB-B3E7-4022-9C9A-B8A33E23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717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结构化事实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E101BE-977D-4D63-9CD7-482276AF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67050"/>
            <a:ext cx="1981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rPr>
              <a:t>主体 / 地点 / 期限</a:t>
            </a:r>
          </a:p>
          <a:p xmlns:a="http://schemas.openxmlformats.org/drawingml/2006/main">
            <a:pPr algn="l">
              <a:def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rPr>
              <a:t>报酬 / 签章 / 附件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135D2B-3F49-4DA1-8586-9D9B858C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76450"/>
            <a:ext cx="25146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2417D3-3EFC-4320-BE92-2D9347BEF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764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A66"/>
          </a:solidFill>
          <a:ln xmlns:a="http://schemas.openxmlformats.org/drawingml/2006/main" w="0">
            <a:solidFill>
              <a:srgbClr val="284A6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DF8F7F-6360-451B-9E27-A5A1E47D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66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1">
                <a:solidFill>
                  <a:srgbClr val="284A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284A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84A6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CD6D7A-0BA2-4158-8E90-6F56B4D8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717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法源检索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AAB5B4-3E35-47B9-85E3-C0A510D1B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67050"/>
            <a:ext cx="1981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rPr>
              <a:t>法律 / 政策 / 版本</a:t>
            </a:r>
          </a:p>
          <a:p xmlns:a="http://schemas.openxmlformats.org/drawingml/2006/main">
            <a:pPr algn="l">
              <a:def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rPr>
              <a:t>来源与生效日期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C57D16-35E9-412F-B542-4AD55B6F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76450"/>
            <a:ext cx="25146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5B7308-0D2D-4FAC-8FD0-3B4F58484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764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45C"/>
          </a:solidFill>
          <a:ln xmlns:a="http://schemas.openxmlformats.org/drawingml/2006/main" w="0">
            <a:solidFill>
              <a:srgbClr val="37445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076ECC-C417-4744-B4E5-7547CA28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66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1">
                <a:solidFill>
                  <a:srgbClr val="37445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3744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37445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9C5353-A580-4E06-A00E-96519E0F3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5717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模型候选 + 校验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CA799F-86BE-4DFD-989A-57C96F9A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067050"/>
            <a:ext cx="1981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rPr>
              <a:t>只能选允许的风险ID</a:t>
            </a:r>
          </a:p>
          <a:p xmlns:a="http://schemas.openxmlformats.org/drawingml/2006/main">
            <a:pPr algn="l">
              <a:def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rPr>
              <a:t>必须命中真实原文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4B21FD-14F3-4B18-8A84-91912DDA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09728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F2033"/>
          </a:solidFill>
          <a:ln xmlns:a="http://schemas.openxmlformats.org/drawingml/2006/main" w="0">
            <a:solidFill>
              <a:srgbClr val="0F203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02A9F1-FDDB-40ED-98F2-4C5FD383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482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无可靠法源或关键信息不足  →  标记“待核实” / 拒答 / 人工复核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D0170C-4703-4C59-A119-EA9222A64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rPr>
              <a:t>AI 用于语义候选、解释草拟和代码辅助；硬规则、法源引用和最终结构调整由确定性程序与团队控制。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A089F2-B327-46ED-AD8C-D0C2CDE1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rPr>
              <a:t>职安盾 VeriWork · 2026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96C489-2072-4DB9-A640-0F042CCA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67537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A1B887-6154-43E0-8E85-A55F8337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rPr>
              <a:t>交付物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FA16C8-4088-43C2-8F7C-2AC95CAAE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1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报告不是一句结论，而是可复核的交付物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2A537D-E1E2-4831-B355-94321630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3F15FE-6517-49C0-BFA3-ECFB11D9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240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页码 / 条款定位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CC6CF5-E63E-4546-88C5-321EB248F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59FEB4-C154-48F9-8343-DF3B3367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原文片段与事实依据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2A5993-F5CD-4334-8BF6-E00588472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9EE9B4-3D36-48D6-82C2-CAA5DC3A3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289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法源依据与版本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F8C943-96A1-4918-9C1A-6FD5EF05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430658-FD56-4C10-B939-7E19E042E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814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待核实事项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66E317-3F64-4994-9A92-4B2A839C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727EED-C9DC-47D3-A673-35F21937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338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原始文件 SHA-256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83FD18-9562-4598-B582-A4C583C47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98C32C-0AE1-4FDA-B066-A12C4BF6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863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证据清单与后续行动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B99807-11A2-4A2E-BDFB-D320E3C8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rPr>
              <a:t>每个结论都能回到原文；每个不能确定的点都明确写出下一步。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7B0CF9-D050-4B35-B190-3976547A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95450"/>
            <a:ext cx="5676900" cy="43434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166B11-82DA-4245-91C3-4E3F74BEB6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8f58e622844ea6"/>
          <a:srcRect xmlns:a="http://schemas.openxmlformats.org/drawingml/2006/main" l="0" t="20751" r="0" b="207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34100" y="1924050"/>
            <a:ext cx="5219700" cy="3886200"/>
          </a:xfrm>
          <a:prstGeom xmlns:a="http://schemas.openxmlformats.org/drawingml/2006/main" prst="roundRect">
            <a:avLst>
              <a:gd name="adj" fmla="val 1961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733222-F44D-46AE-A59F-4E3621BC7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229350"/>
            <a:ext cx="567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rPr>
              <a:t>HTML / PDF 报告 · 证据包 ZIP · 账户数据删除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F7395C-C024-4A68-9860-0658ED86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rPr>
              <a:t>职安盾 VeriWork · 2026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692CF8-C5F4-400D-98C4-7A93162D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278819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688B53-50A5-42B0-8306-017BBB0B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rPr>
              <a:t>评测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C11441-CE93-4ABD-B3A9-55B2BA59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1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把可信性做成可测量指标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C56A0A-90D3-4C8A-B280-1D4A4CB0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51460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D454CA-201D-4264-9F9D-5EE103A3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2057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70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F90BE6-0FE2-4992-9DD0-5338AF088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风险规则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94F1F0-3425-4671-A0ED-A73A9C5C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rPr>
              <a:t>覆盖合同、实习、三方和用工关系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3B588D-F443-43BE-8FE4-D199DE9D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95500"/>
            <a:ext cx="251460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F2BB32-F732-44F4-B79F-0E47FC44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305050"/>
            <a:ext cx="2057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70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1DA11A-0A36-4C44-A34E-E61E99509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956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条法源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8DDC60-110E-4A53-B7B3-302BC04E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23850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rPr>
              <a:t>原文、版本、来源可追溯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73E543-EE63-4A56-872B-EFE23E4C5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251460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74672A-A397-42A7-84C8-9D2803D4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05050"/>
            <a:ext cx="2057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70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rPr>
              <a:t>80 + 40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3EC75C-452B-451F-8F91-846B0B27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956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评测样本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FD916E-DD36-4A62-A581-51F5599C3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3850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rPr>
              <a:t>开发集 + 冻结留出集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C39DD4-2017-4DAD-87B4-D0A9F512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95500"/>
            <a:ext cx="251460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03EF49-ED5C-4A72-B336-D95DD541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305050"/>
            <a:ext cx="2057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70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0074EE-1AC1-48ED-B024-D9B88DCA6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956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名用户测试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D36BB9-48B8-448C-94A9-F9064AE71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3850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rPr>
              <a:t>两轮形成性可用性测试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84FC78-CE7E-4F10-B6D8-A5385D80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09728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72B40"/>
          </a:solidFill>
          <a:ln xmlns:a="http://schemas.openxmlformats.org/drawingml/2006/main" w="0">
            <a:solidFill>
              <a:srgbClr val="172B4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80C742-884C-4F6E-848F-CC8A061FE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开发集 80  ·  冻结留出 40  ·  10 人两轮测试  ·  1—2 名专家抽样复核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BD91E2-85B8-4C4D-8719-A0B19413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rPr>
              <a:t>用户测试用于可用性，不替代模型准确率；准确率、法源覆盖与待核实召回分别报告。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F1D853-9A77-4860-B1ED-5785CABD3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rPr>
              <a:t>职安盾 VeriWork · 2026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D6DD3B-9AE3-49F4-BA12-D7BFCA5D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449880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C6A6A1-2B30-4181-A576-2CBEEA8B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rPr>
              <a:t>政策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75F13C-C033-4DD0-9846-442169AE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1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地方政策不写死，来源可追溯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FD854F-DDE5-45A1-885E-2E44D5974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rPr>
              <a:t>已核验（2026-10-19）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2AF5EC-5033-4EAD-9039-44F45C81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5334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76448E-59E6-4F92-8670-19944CA3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北京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552780-C4DC-4510-B63C-07BDE327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3812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rPr>
              <a:t>2540 / 27.7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822BA5-2F93-4C1C-945E-805A4531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rPr>
              <a:t>2025-09-01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499495-6046-44A3-BBCC-5D40D678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5334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A571E9-6D29-442E-8AF0-74AED6C1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670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上海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9A4ABF-3506-4C16-9FFA-745B4EC8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0480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rPr>
              <a:t>2740 / 25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FEC4C5-D439-4445-A6E5-320B896E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765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rPr>
              <a:t>2025-07-01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C7E800-095B-4E43-B1C4-F6C55F37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5334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E6468C-BFDA-4153-9A13-D897D77B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广东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C721A3-895B-4978-946F-22AEB6CF3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147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rPr>
              <a:t>2680 / 2300 / 2040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8E51EE-EE7D-4377-A3CE-95D20109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7433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rPr>
              <a:t>2026-09-01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AB56C7-F34B-409E-9A10-C07CB26F6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5334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9F9CB7-92C2-4BBA-8BC6-082FF2CEB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005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深圳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7E36AE-E1BF-4C96-AFF4-398E1D4A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815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rPr>
              <a:t>2700 / 25.4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7D6321-A641-4630-8019-6DBD7228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4100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rPr>
              <a:t>2026-09-01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A2BF94-F57B-481E-A108-77C77571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5334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C79279-B1FF-4B1F-8EEF-077D4999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673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重庆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BC6049-A9F2-461F-A289-BFA40BCDB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0482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rPr>
              <a:t>2330 / 2200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689291-4998-4AA2-A167-F4735E567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076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rPr>
              <a:t>2025-01-01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3A5409-2419-4545-9558-FD91408E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050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其余地区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81DA0B-B856-4CE4-ADAD-CEB7EB44E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669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四川 · 贵州 · 云南 · 陕西 · 湖北 · 湖南 · 广西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61CDD7-368D-46F3-8B68-D0995CD0E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6700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rPr>
              <a:t>使用人社部截至 2026-10-01 全国汇总值，标记“待属地原文复核”，不写成确定结论。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562DE0-548E-4F02-8CC8-FF835D87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43300"/>
            <a:ext cx="4762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EBCF9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20CB16-0B3B-4B95-B905-4A28F07BD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33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7A4A0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7A4A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A4A08"/>
                </a:solidFill>
                <a:latin typeface="Microsoft YaHei"/>
                <a:ea typeface="Microsoft YaHei"/>
                <a:cs typeface="Microsoft YaHei"/>
              </a:rPr>
              <a:t>为什么深圳单列？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B43932-2911-4662-B711-16DBA644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19550"/>
            <a:ext cx="428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6B4A1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B4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4A18"/>
                </a:solidFill>
                <a:latin typeface="Microsoft YaHei"/>
                <a:ea typeface="Microsoft YaHei"/>
                <a:cs typeface="Microsoft YaHei"/>
              </a:rPr>
              <a:t>深圳不能直接套用广东省统一档；平台已建立“深圳”独立地区包。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8C24F0-C701-45EA-A814-E81717AD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rPr>
              <a:t>每个来源保留：URL · 生效日期 · 原文 · SHA-256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DD490C-6108-43B4-8676-2A09F5D3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rPr>
              <a:t>职安盾 VeriWork · 2026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DF800E-1C89-4DFE-8F6E-8AE57A8D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728333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F20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672A4F-878F-4F85-9639-F40BC3DF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9FC3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9FC3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9FC3D8"/>
                </a:solidFill>
                <a:latin typeface="Microsoft YaHei"/>
                <a:ea typeface="Microsoft YaHei"/>
                <a:cs typeface="Microsoft YaHei"/>
              </a:rPr>
              <a:t>应用价值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BCAF29-3A75-4AB2-8BFB-B91B2CAA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0490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从一次研判，到一套就业服务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320659-FAD9-4D0B-93D9-27E3F698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3333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72B40"/>
          </a:solidFill>
          <a:ln xmlns:a="http://schemas.openxmlformats.org/drawingml/2006/main" w="9525">
            <a:solidFill>
              <a:srgbClr val="33536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405285-5A28-4CF5-8DF3-0569612A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098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高校就业中心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94CBBA-35D1-4332-B9E3-9D129BDF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0040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C7D6E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C7D6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C7D6E2"/>
                </a:solidFill>
                <a:latin typeface="Microsoft YaHei"/>
                <a:ea typeface="Microsoft YaHei"/>
                <a:cs typeface="Microsoft YaHei"/>
              </a:rPr>
              <a:t>签约前自查、实习与三方协议普法、典型案例库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6A4645-C314-4DEE-A89B-7E927539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81250"/>
            <a:ext cx="3333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74B55"/>
          </a:solidFill>
          <a:ln xmlns:a="http://schemas.openxmlformats.org/drawingml/2006/main" w="9525">
            <a:solidFill>
              <a:srgbClr val="33536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087076-E041-475E-BDF8-4E926468D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098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人社 / 工会 / 公共法律服务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CD2A8E-691C-4E1B-91C2-A43F8D2F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0040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C7D6E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C7D6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C7D6E2"/>
                </a:solidFill>
                <a:latin typeface="Microsoft YaHei"/>
                <a:ea typeface="Microsoft YaHei"/>
                <a:cs typeface="Microsoft YaHei"/>
              </a:rPr>
              <a:t>政策匹配、材料整理、咨询前预检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74892E-8C7D-4C08-AC8E-589B3404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81250"/>
            <a:ext cx="3333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72B40"/>
          </a:solidFill>
          <a:ln xmlns:a="http://schemas.openxmlformats.org/drawingml/2006/main" w="9525">
            <a:solidFill>
              <a:srgbClr val="33536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27D438-A5E3-4F86-A16F-459A0B268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098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企业与园区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7A2C12-41D7-413E-93B9-AC0138B6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0040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C7D6E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C7D6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C7D6E2"/>
                </a:solidFill>
                <a:latin typeface="Microsoft YaHei"/>
                <a:ea typeface="Microsoft YaHei"/>
                <a:cs typeface="Microsoft YaHei"/>
              </a:rPr>
              <a:t>实习协议、三方协议、入职材料合规自查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096ACB-4F17-481B-AF12-D5D5411F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8155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B8D6"/>
          </a:solidFill>
          <a:ln xmlns:a="http://schemas.openxmlformats.org/drawingml/2006/main" w="0">
            <a:solidFill>
              <a:srgbClr val="8FB8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9D31D7-51D0-4650-AD59-464DEFB3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673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规则优先  ·  模型辅助  ·  人工复核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3D3404-DEF3-4F5C-B50B-BF7BA30B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A9C5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9C5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A9C5D8"/>
                </a:solidFill>
                <a:latin typeface="Microsoft YaHei"/>
                <a:ea typeface="Microsoft YaHei"/>
                <a:cs typeface="Microsoft YaHei"/>
              </a:rPr>
              <a:t>演示地址：http://8.133.222.0/veriwork/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8D8D8D-3BDC-4784-9F38-565DE5FF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15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职安盾 VeriWork</a:t>
            </a:r>
          </a:p>
        </p:txBody>
      </p:sp>
    </p:spTree>
    <p:extLst>
      <p:ext uri="{BB962C8B-B14F-4D97-AF65-F5344CB8AC3E}">
        <p14:creationId xmlns:p14="http://schemas.microsoft.com/office/powerpoint/2010/main" val="14977844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2026-10-20T07:00:16.8300000Z</dcterms:created>
  <dcterms:modified xsi:type="dcterms:W3CDTF">2026-10-20T07:00:16.8300000Z</dcterms:modified>
</coreProperties>
</file>