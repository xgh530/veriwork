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834f3815bc48f8" /><Relationship Type="http://schemas.openxmlformats.org/officeDocument/2006/relationships/extended-properties" Target="/docProps/app.xml" Id="R162e624264f44788" /><Relationship Type="http://schemas.openxmlformats.org/officeDocument/2006/relationships/officeDocument" Target="/ppt/presentation.xml" Id="R7b1f905372a34a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ff8bf8b69348b0"/>
  </p:sldMasterIdLst>
  <p:notesMasterIdLst>
    <p:notesMasterId xmlns:r="http://schemas.openxmlformats.org/officeDocument/2006/relationships" r:id="R211f258d89834025"/>
  </p:notesMasterIdLst>
  <p:sldIdLst>
    <p:sldId xmlns:r="http://schemas.openxmlformats.org/officeDocument/2006/relationships" id="256" r:id="Re8063028a4354ba5"/>
    <p:sldId xmlns:r="http://schemas.openxmlformats.org/officeDocument/2006/relationships" id="257" r:id="Re89e644960284c7e"/>
    <p:sldId xmlns:r="http://schemas.openxmlformats.org/officeDocument/2006/relationships" id="258" r:id="Rcd254fa959714d09"/>
    <p:sldId xmlns:r="http://schemas.openxmlformats.org/officeDocument/2006/relationships" id="259" r:id="R52f242997a074609"/>
    <p:sldId xmlns:r="http://schemas.openxmlformats.org/officeDocument/2006/relationships" id="260" r:id="R963718a76d654827"/>
    <p:sldId xmlns:r="http://schemas.openxmlformats.org/officeDocument/2006/relationships" id="261" r:id="R81cbb3f0c1cc4aa5"/>
    <p:sldId xmlns:r="http://schemas.openxmlformats.org/officeDocument/2006/relationships" id="262" r:id="Rd431d2b535a54f37"/>
    <p:sldId xmlns:r="http://schemas.openxmlformats.org/officeDocument/2006/relationships" id="263" r:id="R7ce84238343b4485"/>
    <p:sldId xmlns:r="http://schemas.openxmlformats.org/officeDocument/2006/relationships" id="264" r:id="Rb0f4d26dc1c946f2"/>
    <p:sldId xmlns:r="http://schemas.openxmlformats.org/officeDocument/2006/relationships" id="265" r:id="Rfad505df50424448"/>
    <p:sldId xmlns:r="http://schemas.openxmlformats.org/officeDocument/2006/relationships" id="266" r:id="R61c96bb6050f4cc7"/>
    <p:sldId xmlns:r="http://schemas.openxmlformats.org/officeDocument/2006/relationships" id="267" r:id="R3afe1b30c5db44dd"/>
    <p:sldId xmlns:r="http://schemas.openxmlformats.org/officeDocument/2006/relationships" id="268" r:id="R0d29108a3d9447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c80bccf31349d6" /><Relationship Type="http://schemas.openxmlformats.org/officeDocument/2006/relationships/slideMaster" Target="/ppt/slideMasters/slideMaster1.xml" Id="Reaff8bf8b69348b0" /><Relationship Type="http://schemas.openxmlformats.org/officeDocument/2006/relationships/notesMaster" Target="/ppt/notesMasters/notesMaster1.xml" Id="R211f258d89834025" /><Relationship Type="http://schemas.openxmlformats.org/officeDocument/2006/relationships/presProps" Target="/ppt/presProps.xml" Id="R662a8a8acc404f98" /><Relationship Type="http://schemas.openxmlformats.org/officeDocument/2006/relationships/tableStyles" Target="/ppt/tableStyles.xml" Id="R55190ece1d414610" /><Relationship Type="http://schemas.openxmlformats.org/officeDocument/2006/relationships/slide" Target="/ppt/slides/slide1.xml" Id="Re8063028a4354ba5" /><Relationship Type="http://schemas.openxmlformats.org/officeDocument/2006/relationships/slide" Target="/ppt/slides/slide2.xml" Id="Re89e644960284c7e" /><Relationship Type="http://schemas.openxmlformats.org/officeDocument/2006/relationships/slide" Target="/ppt/slides/slide3.xml" Id="Rcd254fa959714d09" /><Relationship Type="http://schemas.openxmlformats.org/officeDocument/2006/relationships/slide" Target="/ppt/slides/slide4.xml" Id="R52f242997a074609" /><Relationship Type="http://schemas.openxmlformats.org/officeDocument/2006/relationships/slide" Target="/ppt/slides/slide5.xml" Id="R963718a76d654827" /><Relationship Type="http://schemas.openxmlformats.org/officeDocument/2006/relationships/slide" Target="/ppt/slides/slide6.xml" Id="R81cbb3f0c1cc4aa5" /><Relationship Type="http://schemas.openxmlformats.org/officeDocument/2006/relationships/slide" Target="/ppt/slides/slide7.xml" Id="Rd431d2b535a54f37" /><Relationship Type="http://schemas.openxmlformats.org/officeDocument/2006/relationships/slide" Target="/ppt/slides/slide8.xml" Id="R7ce84238343b4485" /><Relationship Type="http://schemas.openxmlformats.org/officeDocument/2006/relationships/slide" Target="/ppt/slides/slide9.xml" Id="Rb0f4d26dc1c946f2" /><Relationship Type="http://schemas.openxmlformats.org/officeDocument/2006/relationships/slide" Target="/ppt/slides/slide10.xml" Id="Rfad505df50424448" /><Relationship Type="http://schemas.openxmlformats.org/officeDocument/2006/relationships/slide" Target="/ppt/slides/slide11.xml" Id="R61c96bb6050f4cc7" /><Relationship Type="http://schemas.openxmlformats.org/officeDocument/2006/relationships/slide" Target="/ppt/slides/slide12.xml" Id="R3afe1b30c5db44dd" /><Relationship Type="http://schemas.openxmlformats.org/officeDocument/2006/relationships/slide" Target="/ppt/slides/slide13.xml" Id="R0d29108a3d9447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7ead4e9ac441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f509568bc64ffb" /><Relationship Type="http://schemas.openxmlformats.org/officeDocument/2006/relationships/notesMaster" Target="/ppt/notesMasters/notesMaster1.xml" Id="Rfc1d6e66621244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e967ad42154046" /><Relationship Type="http://schemas.openxmlformats.org/officeDocument/2006/relationships/notesMaster" Target="/ppt/notesMasters/notesMaster1.xml" Id="R61bdc8fb672d4e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a9caee8df54f12" /><Relationship Type="http://schemas.openxmlformats.org/officeDocument/2006/relationships/notesMaster" Target="/ppt/notesMasters/notesMaster1.xml" Id="Ra938ba7ecfb646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30a12fd4c14fec" /><Relationship Type="http://schemas.openxmlformats.org/officeDocument/2006/relationships/notesMaster" Target="/ppt/notesMasters/notesMaster1.xml" Id="R5799469b372940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c572e4f3e84838" /><Relationship Type="http://schemas.openxmlformats.org/officeDocument/2006/relationships/notesMaster" Target="/ppt/notesMasters/notesMaster1.xml" Id="Rb4b1cb32c6324b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34cb8186964d64" /><Relationship Type="http://schemas.openxmlformats.org/officeDocument/2006/relationships/notesMaster" Target="/ppt/notesMasters/notesMaster1.xml" Id="R2703ab170b1947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5f0911d55b49dd" /><Relationship Type="http://schemas.openxmlformats.org/officeDocument/2006/relationships/notesMaster" Target="/ppt/notesMasters/notesMaster1.xml" Id="Raf77825b560d4c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a0ca64b28844c7" /><Relationship Type="http://schemas.openxmlformats.org/officeDocument/2006/relationships/notesMaster" Target="/ppt/notesMasters/notesMaster1.xml" Id="R6bfb269b48754f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ac47496cfc440c" /><Relationship Type="http://schemas.openxmlformats.org/officeDocument/2006/relationships/notesMaster" Target="/ppt/notesMasters/notesMaster1.xml" Id="R4d06e1d9bc854f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b7730290b24c35" /><Relationship Type="http://schemas.openxmlformats.org/officeDocument/2006/relationships/notesMaster" Target="/ppt/notesMasters/notesMaster1.xml" Id="R29a2427aa58341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92fb64760341ce" /><Relationship Type="http://schemas.openxmlformats.org/officeDocument/2006/relationships/notesMaster" Target="/ppt/notesMasters/notesMaster1.xml" Id="Re6fa57f6b5da4b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43952fc0514a05" /><Relationship Type="http://schemas.openxmlformats.org/officeDocument/2006/relationships/notesMaster" Target="/ppt/notesMasters/notesMaster1.xml" Id="Rd8f1f3431dec44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001dedd9894670" /><Relationship Type="http://schemas.openxmlformats.org/officeDocument/2006/relationships/notesMaster" Target="/ppt/notesMasters/notesMaster1.xml" Id="R92e4d5600b2447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6539bf7134d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6dff7b0b64f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465f3ecef40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939adc39d4f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10781fcd444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86420cd03d49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3B644A-394B-4A58-8B00-9869C7D04A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71657E-DE2B-481F-8924-FBE10EFFD1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6D864F6-74B5-4447-B353-C809066FFB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249872-969A-4B5A-9EB8-68850A213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32B7AD-BE63-438A-B6FB-3468BAB866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E8A9C6-C594-4EA4-8DC1-0B17A39D5D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D831AD-5AD0-4610-ADFB-4BF0EAE71E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F86C164-A6C4-4E73-B391-4D5CBAB32C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228308-51D0-44C1-B426-A1C581A68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60CB88-1A47-49E2-9A99-7DD191B487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fbd51a7244435a" /><Relationship Type="http://schemas.openxmlformats.org/officeDocument/2006/relationships/slideLayout" Target="/ppt/slideLayouts/slideLayout1.xml" Id="Rdf687f1fb2b5417a" /><Relationship Type="http://schemas.openxmlformats.org/officeDocument/2006/relationships/slideLayout" Target="/ppt/slideLayouts/slideLayout2.xml" Id="Rb61da4927d144e69" /><Relationship Type="http://schemas.openxmlformats.org/officeDocument/2006/relationships/slideLayout" Target="/ppt/slideLayouts/slideLayout3.xml" Id="Rc9376a7a5d024b8e" /><Relationship Type="http://schemas.openxmlformats.org/officeDocument/2006/relationships/slideLayout" Target="/ppt/slideLayouts/slideLayout4.xml" Id="R89983d661ad54257" /><Relationship Type="http://schemas.openxmlformats.org/officeDocument/2006/relationships/slideLayout" Target="/ppt/slideLayouts/slideLayout5.xml" Id="Re4895ca012cb4060" /><Relationship Type="http://schemas.openxmlformats.org/officeDocument/2006/relationships/slideLayout" Target="/ppt/slideLayouts/slideLayout6.xml" Id="Refa0fc4857894b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687f1fb2b5417a"/>
    <p:sldLayoutId xmlns:r="http://schemas.openxmlformats.org/officeDocument/2006/relationships" id="2147483650" r:id="Rb61da4927d144e69"/>
    <p:sldLayoutId xmlns:r="http://schemas.openxmlformats.org/officeDocument/2006/relationships" id="2147483651" r:id="Rc9376a7a5d024b8e"/>
    <p:sldLayoutId xmlns:r="http://schemas.openxmlformats.org/officeDocument/2006/relationships" id="2147483652" r:id="R89983d661ad54257"/>
    <p:sldLayoutId xmlns:r="http://schemas.openxmlformats.org/officeDocument/2006/relationships" id="2147483653" r:id="Re4895ca012cb4060"/>
    <p:sldLayoutId xmlns:r="http://schemas.openxmlformats.org/officeDocument/2006/relationships" id="2147483654" r:id="Refa0fc4857894b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e1647abd9f410e" /><Relationship Type="http://schemas.openxmlformats.org/officeDocument/2006/relationships/image" Target="/ppt/media/image.png" Id="R8abd0e127dc4439f" /><Relationship Type="http://schemas.openxmlformats.org/officeDocument/2006/relationships/notesSlide" Target="/ppt/notesSlides/notesSlide1.xml" Id="R3a0e25e1bf6f48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5f946debbd42c6" /><Relationship Type="http://schemas.openxmlformats.org/officeDocument/2006/relationships/image" Target="/ppt/media/image2.png" Id="R4064f717572a4f12" /><Relationship Type="http://schemas.openxmlformats.org/officeDocument/2006/relationships/notesSlide" Target="/ppt/notesSlides/notesSlide2.xml" Id="R7981b7f0632549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07ee07dc5745b6" /><Relationship Type="http://schemas.openxmlformats.org/officeDocument/2006/relationships/image" Target="/ppt/media/image3.png" Id="R97d18c03c11844e6" /><Relationship Type="http://schemas.openxmlformats.org/officeDocument/2006/relationships/notesSlide" Target="/ppt/notesSlides/notesSlide3.xml" Id="Rd543efaef8d14c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8b9ecf4c564e11" /><Relationship Type="http://schemas.openxmlformats.org/officeDocument/2006/relationships/image" Target="/ppt/media/image4.png" Id="R5b6a5d8967de4c1f" /><Relationship Type="http://schemas.openxmlformats.org/officeDocument/2006/relationships/notesSlide" Target="/ppt/notesSlides/notesSlide4.xml" Id="R3f4fc73c52e949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20d493e90a4850" /><Relationship Type="http://schemas.openxmlformats.org/officeDocument/2006/relationships/image" Target="/ppt/media/image5.png" Id="Rcaf5846c97af4be8" /><Relationship Type="http://schemas.openxmlformats.org/officeDocument/2006/relationships/notesSlide" Target="/ppt/notesSlides/notesSlide5.xml" Id="R825eca0bdc1a47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8c334f7a64fd0" /><Relationship Type="http://schemas.openxmlformats.org/officeDocument/2006/relationships/image" Target="/ppt/media/image6.png" Id="Rd9576ff2d7cc44a8" /><Relationship Type="http://schemas.openxmlformats.org/officeDocument/2006/relationships/notesSlide" Target="/ppt/notesSlides/notesSlide6.xml" Id="R4cd1db6437a142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5743cbb53e4339" /><Relationship Type="http://schemas.openxmlformats.org/officeDocument/2006/relationships/image" Target="/ppt/media/image7.png" Id="R9134e080c6654f9f" /><Relationship Type="http://schemas.openxmlformats.org/officeDocument/2006/relationships/notesSlide" Target="/ppt/notesSlides/notesSlide7.xml" Id="R7571078c8a934d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17d360c172422c" /><Relationship Type="http://schemas.openxmlformats.org/officeDocument/2006/relationships/image" Target="/ppt/media/image8.png" Id="R6e8d2749b7d7458b" /><Relationship Type="http://schemas.openxmlformats.org/officeDocument/2006/relationships/notesSlide" Target="/ppt/notesSlides/notesSlide8.xml" Id="Rc1bb4e0ec7aa41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c34adb9a554c12" /><Relationship Type="http://schemas.openxmlformats.org/officeDocument/2006/relationships/image" Target="/ppt/media/image9.png" Id="R13ed57ff932f479c" /><Relationship Type="http://schemas.openxmlformats.org/officeDocument/2006/relationships/notesSlide" Target="/ppt/notesSlides/notesSlide9.xml" Id="Ra0767171d76c4f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58948bba9748f2" /><Relationship Type="http://schemas.openxmlformats.org/officeDocument/2006/relationships/image" Target="/ppt/media/image10.png" Id="Rf1f34752b8464de5" /><Relationship Type="http://schemas.openxmlformats.org/officeDocument/2006/relationships/notesSlide" Target="/ppt/notesSlides/notesSlide10.xml" Id="Rb5b34d125ea741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6e16c2a9df4393" /><Relationship Type="http://schemas.openxmlformats.org/officeDocument/2006/relationships/image" Target="/ppt/media/image11.png" Id="R0a983b43ddd843fa" /><Relationship Type="http://schemas.openxmlformats.org/officeDocument/2006/relationships/notesSlide" Target="/ppt/notesSlides/notesSlide11.xml" Id="Rff73fe595fa740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91fac36f54ddd" /><Relationship Type="http://schemas.openxmlformats.org/officeDocument/2006/relationships/image" Target="/ppt/media/image12.png" Id="R9d079128768d4e3f" /><Relationship Type="http://schemas.openxmlformats.org/officeDocument/2006/relationships/notesSlide" Target="/ppt/notesSlides/notesSlide12.xml" Id="R59f8d04a1cc347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c483833e0547c8" /><Relationship Type="http://schemas.openxmlformats.org/officeDocument/2006/relationships/notesSlide" Target="/ppt/notesSlides/notesSlide13.xml" Id="R2d38bae8d89641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BB9DF-8EC7-45C4-94E7-2010A1070D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d0e127dc4439f"/>
          <a:stretch xmlns:a="http://schemas.openxmlformats.org/drawingml/2006/main"/>
        </p:blipFill>
        <p:spPr>
          <a:xfrm xmlns:a="http://schemas.openxmlformats.org/drawingml/2006/main">
            <a:off x="742950" y="7048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67F-2D70-46B1-9B86-909C8824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93CB8"/>
                </a:solidFill>
              </a:defRPr>
            </a:pPr>
            <a:r>
              <a:rPr sz="975" b="1">
                <a:solidFill>
                  <a:srgbClr val="193CB8"/>
                </a:solidFill>
              </a:rPr>
              <a:t>TRUSTED EMPLOYMENT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75DAD-81D6-4E44-A851-B4AF779E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857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0F172B"/>
                </a:solidFill>
              </a:defRPr>
            </a:pPr>
            <a:r>
              <a:rPr sz="3900" b="1">
                <a:solidFill>
                  <a:srgbClr val="0F172B"/>
                </a:solidFill>
              </a:rPr>
              <a:t>职安盾 VeriWork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B91D0-B313-4A20-BD51-DC944443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556C"/>
                </a:solidFill>
              </a:defRPr>
            </a:pPr>
            <a:r>
              <a:rPr sz="1800" b="0">
                <a:solidFill>
                  <a:srgbClr val="45556C"/>
                </a:solidFill>
              </a:rPr>
              <a:t>面向高校毕业生就业合同的可验证 AI 风险评估与证据链系统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CDB19-8409-4AD3-BFB0-5DC2512F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3CB8"/>
                </a:solidFill>
              </a:defRPr>
            </a:pPr>
            <a:r>
              <a:rPr sz="1350" b="0">
                <a:solidFill>
                  <a:srgbClr val="193CB8"/>
                </a:solidFill>
              </a:rPr>
              <a:t>规则硬约束  ·  法源可追溯  ·  大模型受限召回  ·  拒答与复核  ·  行动闭环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87F1D-ADE2-4CAA-BC1D-13C03D58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48E"/>
                </a:solidFill>
              </a:defRPr>
            </a:pPr>
            <a:r>
              <a:rPr sz="1125" b="0">
                <a:solidFill>
                  <a:srgbClr val="62748E"/>
                </a:solidFill>
              </a:rPr>
              <a:t>团队：【待填写】    指导教师：【待填写】</a:t>
            </a:r>
          </a:p>
        </p:txBody>
      </p:sp>
    </p:spTree>
    <p:extLst>
      <p:ext uri="{BB962C8B-B14F-4D97-AF65-F5344CB8AC3E}">
        <p14:creationId xmlns:p14="http://schemas.microsoft.com/office/powerpoint/2010/main" val="1559786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0B752-EF9D-44A7-A9F1-1C9BD1A020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4f717572a4f12"/>
          <a:stretch xmlns:a="http://schemas.openxmlformats.org/drawingml/2006/main"/>
        </p:blipFill>
        <p:spPr>
          <a:xfrm xmlns:a="http://schemas.openxmlformats.org/drawingml/2006/main">
            <a:off x="11220450" y="3048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CDF5A-2741-472F-BEF8-6457F6F6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01 · 问题定义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FBB42-2B63-47D0-9F19-2CA281A1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就业合同风险判断不可信，行动也不闭环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CE4B2-67D8-4C96-8EC6-B522A9CF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571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0D6C9-8F2B-4096-8599-E86729BA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用户缺少知识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47161-FCC4-4B15-8E96-E5710660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应届生难以及时识别试用期、社保、押金、培训贷、竞业和离职条款中的风险。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C60FE-E928-4752-81B5-88BEA2D7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571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60D08-4287-4F9D-8C40-F0983E20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通用模型会编造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90643-41DD-4762-B4FE-7F65D84F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3840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看似专业，但可能引用错误法条，也可能把合法条款判成违法。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67F6B-400F-4689-8792-622FF436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571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7DCF9-C7B9-4248-A98B-71E7031D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知道风险也无法行动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C9DFA-BA63-4AD8-A484-8428DCF9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用户仍不知道保存什么证据、如何沟通、向谁提交材料。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75207-B619-4241-9219-F1F7FC03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7813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272E4-4794-4D50-BB79-15186EF9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高后果却难量化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8DBDA-32A3-431B-86C6-364546D6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38400"/>
            <a:ext cx="2362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现有工具极少公开风险召回、错误引用和确定性失败案例。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14396-3048-4C1D-9FA1-C3E09DF7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BB4D0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BB4D00"/>
                </a:solidFill>
              </a:defRPr>
            </a:pPr>
            <a:r>
              <a:rPr sz="1800" b="1">
                <a:solidFill>
                  <a:srgbClr val="BB4D00"/>
                </a:solidFill>
              </a:rPr>
              <a:t>目标：让 AI 在高后果场景里说清依据、承认不确定、给出下一步。</a:t>
            </a:r>
          </a:p>
        </p:txBody>
      </p:sp>
    </p:spTree>
    <p:extLst>
      <p:ext uri="{BB962C8B-B14F-4D97-AF65-F5344CB8AC3E}">
        <p14:creationId xmlns:p14="http://schemas.microsoft.com/office/powerpoint/2010/main" val="2035236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4C958-EF21-4F55-9A95-55F8EFBF7B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18c03c11844e6"/>
          <a:stretch xmlns:a="http://schemas.openxmlformats.org/drawingml/2006/main"/>
        </p:blipFill>
        <p:spPr>
          <a:xfrm xmlns:a="http://schemas.openxmlformats.org/drawingml/2006/main">
            <a:off x="11220450" y="3048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7B2D5-2441-45F7-950C-6E551EDA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02 · 为什么不能直接用通用模型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56D04-760D-405A-8024-312C25AE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“会回答”不等于“可信任”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E2A84-9BA7-4818-8F05-E9EE5EEC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92F75-8DD2-4FC3-A150-5DEF5003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没有硬约束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59384-A774-4E97-BBC9-CA6D7CC9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试用期、社保、收费等硬规则不能交给模型自由生成。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8AF0F-D804-4640-966D-225990A5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4E62C-67E2-430B-9300-D0A4D06D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没有可追溯依据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4F71E-E6F9-4617-8388-F05D90AD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结论可能没有原文定位，也可能引用失效或不适用法条。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6AEF0-23C9-4940-BF32-0F4404F8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A86E3-FB2B-478C-8734-798DC841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BB4D0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B4D00"/>
                </a:solidFill>
              </a:defRPr>
            </a:pPr>
            <a:r>
              <a:rPr sz="1575" b="1">
                <a:solidFill>
                  <a:srgbClr val="BB4D00"/>
                </a:solidFill>
              </a:rPr>
              <a:t>不会主动拒答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0A2F6-E220-4748-A8CF-A16ADBFC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信息不足时仍倾向输出完整答案，形成确定但错误的风险结论。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D6975-C079-435C-B689-CDD5A676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62375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89978-A4B8-408F-A882-18B1941C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52875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无法形成闭环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70E1A-D2C5-46C3-BBF4-3B92FF37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91025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回答停留在文本，不能继续生成证据清单和办理路径。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A0A60-93AA-4D0B-822B-C1BA177C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职安盾研究的不是法律问答，而是大模型在高风险垂直场景中的可信决策机制。</a:t>
            </a:r>
          </a:p>
        </p:txBody>
      </p:sp>
    </p:spTree>
    <p:extLst>
      <p:ext uri="{BB962C8B-B14F-4D97-AF65-F5344CB8AC3E}">
        <p14:creationId xmlns:p14="http://schemas.microsoft.com/office/powerpoint/2010/main" val="77185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926ECD-4796-4D21-A4D2-39D111351A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a5d8967de4c1f"/>
          <a:stretch xmlns:a="http://schemas.openxmlformats.org/drawingml/2006/main"/>
        </p:blipFill>
        <p:spPr>
          <a:xfrm xmlns:a="http://schemas.openxmlformats.org/drawingml/2006/main">
            <a:off x="11220450" y="3048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F85C6-4539-419D-B41A-26DDD161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03 · 可信链路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692C9-69B1-4D98-8964-677FDFFE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六层可信研判链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961A9-4900-4A1A-971E-36FC4FB0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570F1-736E-4C85-9C52-97F70C7C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93CB8"/>
                </a:solidFill>
              </a:defRPr>
            </a:pPr>
            <a:r>
              <a:rPr sz="1050" b="1">
                <a:solidFill>
                  <a:srgbClr val="193CB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8E4EF-FEE8-4B5A-ABE2-03A43D00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输入层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B0B94-BD6A-4979-84C1-C3FBBD07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合同、Offer、实习协议、聊天与工资记录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DE3FF-862E-4FB3-81D6-682FEB3F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C4B16-7373-4757-B56F-A1CC0874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93CB8"/>
                </a:solidFill>
              </a:defRPr>
            </a:pPr>
            <a:r>
              <a:rPr sz="1050" b="1">
                <a:solidFill>
                  <a:srgbClr val="193CB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D1E0E-158C-46F1-AFBC-896ABA4F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抽取层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1097A-0838-4AD8-AE44-5DF300DD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条款切分、关键事实抽取和结构化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FF186-FFAF-478B-B59A-BD202AC3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46FD3-44FD-44E4-A45C-B6C2B0EC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93CB8"/>
                </a:solidFill>
              </a:defRPr>
            </a:pPr>
            <a:r>
              <a:rPr sz="1050" b="1">
                <a:solidFill>
                  <a:srgbClr val="193CB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A18D8-2C8A-4065-A942-5676518A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知识层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E976C-7D24-4ADA-8AB1-41DA733A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公开法源、地方政策和版本追踪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C33B5-4BA6-4C65-8B1E-0F42AF08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C0982-B617-4B85-B018-2245F683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93CB8"/>
                </a:solidFill>
              </a:defRPr>
            </a:pPr>
            <a:r>
              <a:rPr sz="1050" b="1">
                <a:solidFill>
                  <a:srgbClr val="193CB8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90604-3C75-4D5A-AF90-BEF311BF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决策层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B4243-A7C5-4378-BCEF-90B5AFE1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确定性规则 + 语义识别 + 大模型候选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01FB8-400C-4854-B804-B79E66B5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06E1C-F810-4929-939C-24F8F472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93CB8"/>
                </a:solidFill>
              </a:defRPr>
            </a:pPr>
            <a:r>
              <a:rPr sz="1050" b="1">
                <a:solidFill>
                  <a:srgbClr val="193CB8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1F1480-2430-486B-A9D7-ABED5CB5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校验层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B6515-9D96-4A44-A68F-7489590B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原文校验、引用核查、拒答和人工复核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5FF460-9C54-4660-801F-322EB128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79DFF7-1BF5-4E8D-9B89-5A19C281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93CB8"/>
                </a:solidFill>
              </a:defRPr>
            </a:pPr>
            <a:r>
              <a:rPr sz="1050" b="1">
                <a:solidFill>
                  <a:srgbClr val="193CB8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CCFA3F-B347-4BB5-A024-86A953E6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行动层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FDEA72-A9F8-44FB-A677-49725CD1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证据清单、沟通问题和材料草稿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21D3C2-E8BB-4211-8C80-DDF11469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BB4D0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B4D00"/>
                </a:solidFill>
              </a:defRPr>
            </a:pPr>
            <a:r>
              <a:rPr sz="1650" b="1">
                <a:solidFill>
                  <a:srgbClr val="BB4D00"/>
                </a:solidFill>
              </a:rPr>
              <a:t>模型只能补充有原文依据的候选风险，不能修改风险等级或新增法源。</a:t>
            </a:r>
          </a:p>
        </p:txBody>
      </p:sp>
    </p:spTree>
    <p:extLst>
      <p:ext uri="{BB962C8B-B14F-4D97-AF65-F5344CB8AC3E}">
        <p14:creationId xmlns:p14="http://schemas.microsoft.com/office/powerpoint/2010/main" val="1333049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A8349-1D2D-43AC-A4EE-804DF329D4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5846c97af4be8"/>
          <a:stretch xmlns:a="http://schemas.openxmlformats.org/drawingml/2006/main"/>
        </p:blipFill>
        <p:spPr>
          <a:xfrm xmlns:a="http://schemas.openxmlformats.org/drawingml/2006/main">
            <a:off x="11220450" y="3048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5115D-2E84-48D0-AC68-69316118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04 · 产品闭环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68583-B641-42B2-9027-BE19C424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从风险提示走到证据与行动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74785-50A0-4F49-8C0B-9683D35C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429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78748-CA19-435B-8CBC-86041E16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合同研判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6A214-E7B6-4E1B-9831-22CE5609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009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输出风险分、风险清单、原文片段、法源依据、置信度和行动建议。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526C3-DDAE-405E-B057-723DFF23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429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F6F47-1D3D-4FAB-8863-E4571083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可信轨迹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7A0E7-58E9-401C-AED2-00D5EB93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3009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展示规则、语义、法源检索、大模型候选和拒答过程。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0BB73-72A1-4FFE-A6D0-47E3C0B5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429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4D4E3-EE41-4C67-BA36-5FD2C615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证据与材料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76F1C-3ECD-4586-ADB0-3A1ECEA5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3009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生成证据清单、事件时间线、HR沟通问题和投诉/仲裁材料草稿。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EF020-D1E3-4C55-AAB5-C7CD0C1B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93CB8"/>
                </a:solidFill>
              </a:defRPr>
            </a:pPr>
            <a:r>
              <a:rPr sz="1575" b="0">
                <a:solidFill>
                  <a:srgbClr val="193CB8"/>
                </a:solidFill>
              </a:rPr>
              <a:t>现场演示：载入风险合同 → 运行研判 → 查看候选风险 → 条款定位 → 证据链 → 评测。</a:t>
            </a:r>
          </a:p>
        </p:txBody>
      </p:sp>
    </p:spTree>
    <p:extLst>
      <p:ext uri="{BB962C8B-B14F-4D97-AF65-F5344CB8AC3E}">
        <p14:creationId xmlns:p14="http://schemas.microsoft.com/office/powerpoint/2010/main" val="16528896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8C1B8-42DE-463A-9239-E48C06FF62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76ff2d7cc44a8"/>
          <a:stretch xmlns:a="http://schemas.openxmlformats.org/drawingml/2006/main"/>
        </p:blipFill>
        <p:spPr>
          <a:xfrm xmlns:a="http://schemas.openxmlformats.org/drawingml/2006/main">
            <a:off x="11220450" y="3048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C5147-EEF8-4EB1-BEDB-E850E47B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05 · 创新一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ACD76-AE16-455E-A0D1-3DE51DAC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规则拥有硬约束权，模型只拥有解释权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7FCD6-8E49-412D-BA8B-38A23104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238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3713B-8C33-4940-9D63-CF760178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规则引擎：确定性判断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D97A6-224D-4A3E-BC93-64B64FBD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8196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处理试用期期限、社保、押金、培训贷、加班费、竞业限制等规则明确的事项。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EF435-1DB4-4FAC-B9E3-94370ABB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05000"/>
            <a:ext cx="5429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9BE01-B48C-4A13-BD45-EEAAC2D1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安全例外：拒绝关键词误伤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6281E-1AE0-499C-A5C9-5BF572C8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010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识别“不收取押金”“不低于80%”“三年以上合同六个月试用期”等合法或否定表达。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B8D95-D3CA-4885-B98B-44F90F2D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BB4D0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B4D00"/>
                </a:solidFill>
              </a:defRPr>
            </a:pPr>
            <a:r>
              <a:rPr sz="1650" b="1">
                <a:solidFill>
                  <a:srgbClr val="BB4D00"/>
                </a:solidFill>
              </a:rPr>
              <a:t>与普通 RAG 问答最本质的差异：模型输出不能覆盖程序硬规则。</a:t>
            </a:r>
          </a:p>
        </p:txBody>
      </p:sp>
    </p:spTree>
    <p:extLst>
      <p:ext uri="{BB962C8B-B14F-4D97-AF65-F5344CB8AC3E}">
        <p14:creationId xmlns:p14="http://schemas.microsoft.com/office/powerpoint/2010/main" val="16814811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35E21-F6C9-4E28-8B11-E989E2D497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4e080c6654f9f"/>
          <a:stretch xmlns:a="http://schemas.openxmlformats.org/drawingml/2006/main"/>
        </p:blipFill>
        <p:spPr>
          <a:xfrm xmlns:a="http://schemas.openxmlformats.org/drawingml/2006/main">
            <a:off x="11220450" y="3048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14D89-0A02-4BC0-B3CA-622CBE09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06 · 创新二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F9A91-7A6E-400A-BCC3-A13E78F3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证据不足时停止“自信地胡说”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13F8B-EA12-4C69-BD25-BE304D7B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238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221C6-DFC0-45D6-89B7-A617EC18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结论绑定原文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E257F-09C2-44C6-993D-028F9EAE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4819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每项风险必须回到合同中的真实片段。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7CCBA-84F5-4ED3-BA8C-5BC2CE43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5429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B1CDF-80CF-4008-B9A6-6561D50C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结论绑定法源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FB0D6-D5A8-43CE-A23C-3F5DF750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5010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规则映射核心法源，条款关键词再执行本地检索排序。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3B978-7C54-4A24-9593-18631F5A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5238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F9977-359F-4A80-8637-73F24811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信息不足进入待核实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E11FD-70F7-4108-B3E3-CD8B742F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4819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实习、兼职、项目合作和关键条款缺失时不输出确定回答。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3C03D-75EF-42A8-953A-5EB74B4C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62375"/>
            <a:ext cx="5429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D597B-3724-4F2D-8218-462A08A0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保留失败案例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511DE-B39B-41B7-93DB-9C55F47D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91025"/>
            <a:ext cx="5010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错误进入评测报告和下一轮迭代，不通过删除失败样本制造完美指标。</a:t>
            </a:r>
          </a:p>
        </p:txBody>
      </p:sp>
    </p:spTree>
    <p:extLst>
      <p:ext uri="{BB962C8B-B14F-4D97-AF65-F5344CB8AC3E}">
        <p14:creationId xmlns:p14="http://schemas.microsoft.com/office/powerpoint/2010/main" val="9956724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1BF18-6FA8-4EB6-B643-B1E9491E4C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d2749b7d7458b"/>
          <a:stretch xmlns:a="http://schemas.openxmlformats.org/drawingml/2006/main"/>
        </p:blipFill>
        <p:spPr>
          <a:xfrm xmlns:a="http://schemas.openxmlformats.org/drawingml/2006/main">
            <a:off x="11220450" y="3048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7A7BB-06E6-4E79-ABF3-16E5B6EA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07 · 评测设计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1AE76-FBDF-4824-ADCD-98D54F4E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把“看起来能用”变成可复现实验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6C1DB-675F-4133-99BF-AADB932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3429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83799-1533-4775-991E-C7958BAF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80条开发回归集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58710-CE8C-4E51-BDDD-01F36233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3009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覆盖13类风险、安全对照和待核实场景，用于规则开发和功能回归。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5E661-9A3D-4460-98F9-50F10CEC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429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5ED37-8531-4BE7-86F1-8BBD394E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32条早期留出集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E86D2-63FF-44DC-8365-5ECBEE61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33650"/>
            <a:ext cx="3009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暴露关键词规则在“工装费、毕业证、技能贷款”等新表达上的泛化问题。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7CDD3-C8BE-49A3-9069-0EBFF90C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05000"/>
            <a:ext cx="3429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0DD42-265C-46A3-940F-06FF682F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40条冻结留出集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7506F-7ACE-438E-88C7-FC3B46FA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009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规则开发后创建，不再针对结果调参，用于报告真实泛化差距。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1FEA7-C22B-4B1C-90E8-F1389F5B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所有合成数据均标注来源、难度、期望风险、拒答要求和复核状态。</a:t>
            </a:r>
          </a:p>
        </p:txBody>
      </p:sp>
    </p:spTree>
    <p:extLst>
      <p:ext uri="{BB962C8B-B14F-4D97-AF65-F5344CB8AC3E}">
        <p14:creationId xmlns:p14="http://schemas.microsoft.com/office/powerpoint/2010/main" val="19789054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CBE7F-7100-4AF0-97DF-511B1CA8DB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d57ff932f479c"/>
          <a:stretch xmlns:a="http://schemas.openxmlformats.org/drawingml/2006/main"/>
        </p:blipFill>
        <p:spPr>
          <a:xfrm xmlns:a="http://schemas.openxmlformats.org/drawingml/2006/main">
            <a:off x="11220450" y="3048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7077C-219D-44BE-A0AE-C42690EE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08 · 当前实测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7CE01-DC20-4461-8075-C12EA8F4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同轮公平对照：风险指标相当，法源覆盖显著不同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A77B1-B271-49EA-B28B-3979FA61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5238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06156-6D9A-412F-AD68-2DD33226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A5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A55"/>
                </a:solidFill>
              </a:defRPr>
            </a:pPr>
            <a:r>
              <a:rPr sz="1575" b="1">
                <a:solidFill>
                  <a:srgbClr val="007A55"/>
                </a:solidFill>
              </a:rPr>
              <a:t>DeepSeek-Flash · 40/40成功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C0F96-575B-45A2-865D-44877F78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4819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通用模型直答与职安盾混合链：P 96.3% / R 100% / F1 98.1%。混合链法源覆盖从 0% 提升到 100%。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17486-8F03-48E0-AAB7-A9C90FE5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71650"/>
            <a:ext cx="5429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92F06-E73F-4A07-AF79-840EEFA6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BB4D0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B4D00"/>
                </a:solidFill>
              </a:defRPr>
            </a:pPr>
            <a:r>
              <a:rPr sz="1575" b="1">
                <a:solidFill>
                  <a:srgbClr val="BB4D00"/>
                </a:solidFill>
              </a:rPr>
              <a:t>DeepSeek-V4-Pro · 40/40成功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CB2C5-BA0A-4DCE-BE2C-55C8B705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5010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续费并断点续跑后全部完成：P 92.9% / R 100% / F1 96.3%。混合链法源覆盖100%。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10CDF-E1AA-4A43-8FD5-865D78AB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10109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FDBE4-FE7E-4EA1-86C8-4B868BD9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如何解释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9B10E-FD02-46F7-853D-46D38BB8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1059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模型在已知风险ID内已有较强语义能力；真正不可替代的是法源可追溯、原文校验、硬规则与拒答边界。不能把合成留出集结果说成真实用户准确率。</a:t>
            </a:r>
          </a:p>
        </p:txBody>
      </p:sp>
    </p:spTree>
    <p:extLst>
      <p:ext uri="{BB962C8B-B14F-4D97-AF65-F5344CB8AC3E}">
        <p14:creationId xmlns:p14="http://schemas.microsoft.com/office/powerpoint/2010/main" val="18941044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03B5B-A457-4A5C-AC1D-59FDE69991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34752b8464de5"/>
          <a:stretch xmlns:a="http://schemas.openxmlformats.org/drawingml/2006/main"/>
        </p:blipFill>
        <p:spPr>
          <a:xfrm xmlns:a="http://schemas.openxmlformats.org/drawingml/2006/main">
            <a:off x="11220450" y="3048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F3AA7-2942-4E14-8950-21748C9B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09 · 学校20日截止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0E2A6-3EB6-42E2-8DC8-3E509499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10天冲刺：先证据，后包装，绝不拖延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DBFCD-7755-4A85-868F-A7BABDBD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3CB8"/>
                </a:solidFill>
              </a:defRPr>
            </a:pPr>
            <a:r>
              <a:rPr sz="1350" b="1">
                <a:solidFill>
                  <a:srgbClr val="193CB8"/>
                </a:solidFill>
              </a:rPr>
              <a:t>10月10-11日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71047-0336-440C-9081-3A66A209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097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确定成员、指导教师和第一申报单位；完成官网注册；确认校内流程。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CBF2F-C1E1-48F0-8EE6-7EF8D1C4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3CB8"/>
                </a:solidFill>
              </a:defRPr>
            </a:pPr>
            <a:r>
              <a:rPr sz="1350" b="1">
                <a:solidFill>
                  <a:srgbClr val="193CB8"/>
                </a:solidFill>
              </a:rPr>
              <a:t>10月12-13日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D2213-16EA-4DB9-BCFC-5D7E53B2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860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完成第二个模型实验；启动20人用户测试；收集测试数据和反馈。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7DB6F-014A-4B07-A452-52246068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3CB8"/>
                </a:solidFill>
              </a:defRPr>
            </a:pPr>
            <a:r>
              <a:rPr sz="1350" b="1">
                <a:solidFill>
                  <a:srgbClr val="193CB8"/>
                </a:solidFill>
              </a:rPr>
              <a:t>10月14-15日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2C15E-3FB3-4460-959B-56435BD9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623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法律实务人员抽样复核；核验北京、上海、广东政策原文。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BDD90-E12C-405A-9D68-73419BE7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3CB8"/>
                </a:solidFill>
              </a:defRPr>
            </a:pPr>
            <a:r>
              <a:rPr sz="1350" b="1">
                <a:solidFill>
                  <a:srgbClr val="193CB8"/>
                </a:solidFill>
              </a:rPr>
              <a:t>10月16-17日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041D0-F02E-4142-8B8E-05631BD9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完成作品介绍、AI说明、知识产权清单；录制演示视频。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6F3C4-6250-474E-A643-00BF2F4A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3CB8"/>
                </a:solidFill>
              </a:defRPr>
            </a:pPr>
            <a:r>
              <a:rPr sz="1350" b="1">
                <a:solidFill>
                  <a:srgbClr val="193CB8"/>
                </a:solidFill>
              </a:rPr>
              <a:t>10月18-19日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60781-6F78-4444-9D78-0ED6412C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149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全流程彩排、无网演示测试、材料终审，提前提交学校。</a:t>
            </a:r>
          </a:p>
        </p:txBody>
      </p:sp>
    </p:spTree>
    <p:extLst>
      <p:ext uri="{BB962C8B-B14F-4D97-AF65-F5344CB8AC3E}">
        <p14:creationId xmlns:p14="http://schemas.microsoft.com/office/powerpoint/2010/main" val="13701193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A59E1-1030-4029-A86B-3CE48ADE30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83b43ddd843fa"/>
          <a:stretch xmlns:a="http://schemas.openxmlformats.org/drawingml/2006/main"/>
        </p:blipFill>
        <p:spPr>
          <a:xfrm xmlns:a="http://schemas.openxmlformats.org/drawingml/2006/main">
            <a:off x="11220450" y="3048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81076-831B-4930-B668-FD6A43EE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10 · 团队分工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7421E-F808-4774-B560-2ABF63FE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五个人必须各自对一项证据负责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E2627-072A-446E-B5F4-BD9BF8F2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B0BE6-AE91-43EC-AC92-F8D4D5D8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队长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7EAE1-4CE1-462D-9208-F5C289FD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注册、进度、学校沟通、最终提交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B44A6-0091-4257-9EC8-8160F5EB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DC249-C63F-40A4-82A2-9C2BE786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前端/产品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2BEF5-3C78-48E7-94B4-6068C741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系统演示、交互、截图、无网彩排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D901D-6939-4A27-B053-0D3A0976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9C34D-B166-469C-A0AA-EBC9024F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后端/数据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D883C-78EA-40D8-8C3E-DC4B3206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服务运行、隐私、数据说明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41297-3E9E-4CBF-8ED6-86256594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85EF0-32C1-40E0-9BD6-5C3AEFC2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模型/评测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4AC5A-5CDB-432A-AE24-DA0BF000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双模型实验、指标、失败案例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1A920-ED6A-47AD-861E-4F6F0526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0024B-9DCF-41AD-91EF-CF774537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设计/材料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B1F1B-F286-4528-B847-B4868F47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PPT、视频、AI说明、来源清单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BDB99-54D2-413F-AA4D-730302E5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BB4D0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B4D00"/>
                </a:solidFill>
              </a:defRPr>
            </a:pPr>
            <a:r>
              <a:rPr sz="1650" b="1">
                <a:solidFill>
                  <a:srgbClr val="BB4D00"/>
                </a:solidFill>
              </a:rPr>
              <a:t>截止时间是20日，任何一项没有负责人，都会在最后两天变成阻塞。</a:t>
            </a:r>
          </a:p>
        </p:txBody>
      </p:sp>
    </p:spTree>
    <p:extLst>
      <p:ext uri="{BB962C8B-B14F-4D97-AF65-F5344CB8AC3E}">
        <p14:creationId xmlns:p14="http://schemas.microsoft.com/office/powerpoint/2010/main" val="2792640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7CDD6-6D3D-411D-A2B1-ECEBC3A5B0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79128768d4e3f"/>
          <a:stretch xmlns:a="http://schemas.openxmlformats.org/drawingml/2006/main"/>
        </p:blipFill>
        <p:spPr>
          <a:xfrm xmlns:a="http://schemas.openxmlformats.org/drawingml/2006/main">
            <a:off x="11220450" y="3048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9E0B1-EA30-43F1-B104-C38F74E4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11 · 应用与边界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64F49-2211-4E5A-B1C5-4504FEA6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面向真实就业服务，但不替代专业判断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B4D36-E653-4D94-9A40-7A99870A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34290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C15A0-C3C4-44BF-B2B3-312391BC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高校就业中心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55C99-CC17-43B9-A7E5-2C4AAA2C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30099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合同自查、就业权益教育、脱敏后的典型风险案例。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DF41B-9DDB-40A6-A766-C97A77F2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57375"/>
            <a:ext cx="34290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2BA93-27B4-447B-B4D8-75DE77D5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47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实习与灵活用工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C6732-75DC-4410-A554-43844E5A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86025"/>
            <a:ext cx="30099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覆盖实习、兼职、项目合作等高风险但规则复杂场景。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CB4A6-4D4D-413D-B6AA-1C80F4AD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57375"/>
            <a:ext cx="34290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3F0BC-FC8E-414E-A180-5415004D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BB4D0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B4D00"/>
                </a:solidFill>
              </a:defRPr>
            </a:pPr>
            <a:r>
              <a:rPr sz="1575" b="1">
                <a:solidFill>
                  <a:srgbClr val="BB4D00"/>
                </a:solidFill>
              </a:rPr>
              <a:t>地方政策扩展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9C7F5-ECEE-4C6C-B62B-A842D63A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30099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全国规则加地方政策包，动态标准必须核验来源和生效日期。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6B257-6392-4F00-B069-FEC25AD1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F172B"/>
                </a:solidFill>
              </a:defRPr>
            </a:pPr>
            <a:r>
              <a:rPr sz="1575" b="1">
                <a:solidFill>
                  <a:srgbClr val="0F172B"/>
                </a:solidFill>
              </a:rPr>
              <a:t>产品定位：普法、风险提示和材料整理工具，不替代律师、仲裁机构或人社部门。</a:t>
            </a:r>
          </a:p>
        </p:txBody>
      </p:sp>
    </p:spTree>
    <p:extLst>
      <p:ext uri="{BB962C8B-B14F-4D97-AF65-F5344CB8AC3E}">
        <p14:creationId xmlns:p14="http://schemas.microsoft.com/office/powerpoint/2010/main" val="21215581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AC21D-F7B3-46A8-BD69-DA9415FE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93CB8"/>
                </a:solidFill>
              </a:defRPr>
            </a:pPr>
            <a:r>
              <a:rPr sz="1050" b="1">
                <a:solidFill>
                  <a:srgbClr val="193CB8"/>
                </a:solidFill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AD091-39B4-4A0E-97D1-EAA28623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F172B"/>
                </a:solidFill>
              </a:defRPr>
            </a:pPr>
            <a:r>
              <a:rPr sz="3450" b="1">
                <a:solidFill>
                  <a:srgbClr val="0F172B"/>
                </a:solidFill>
              </a:rPr>
              <a:t>让高风险场景中的 AI</a:t>
            </a:r>
          </a:p>
          <a:p xmlns:a="http://schemas.openxmlformats.org/drawingml/2006/main">
            <a:pPr>
              <a:defRPr sz="3450" b="1">
                <a:solidFill>
                  <a:srgbClr val="0F172B"/>
                </a:solidFill>
              </a:defRPr>
            </a:pPr>
            <a:r>
              <a:rPr sz="3450" b="1">
                <a:solidFill>
                  <a:srgbClr val="0F172B"/>
                </a:solidFill>
              </a:rPr>
              <a:t>有依据、可验证、能行动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C79EA-FD76-4386-8751-B69F9F37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93CB8"/>
                </a:solidFill>
              </a:defRPr>
            </a:pPr>
            <a:r>
              <a:rPr sz="1800" b="0">
                <a:solidFill>
                  <a:srgbClr val="193CB8"/>
                </a:solidFill>
              </a:rPr>
              <a:t>职安盾 VeriWork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4803D-08B4-4D9E-BA38-066B222F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48E"/>
                </a:solidFill>
              </a:defRPr>
            </a:pPr>
            <a:r>
              <a:rPr sz="1125" b="0">
                <a:solidFill>
                  <a:srgbClr val="62748E"/>
                </a:solidFill>
              </a:rPr>
              <a:t>团队：【待填写】    指导教师：【待填写】</a:t>
            </a:r>
          </a:p>
        </p:txBody>
      </p:sp>
    </p:spTree>
    <p:extLst>
      <p:ext uri="{BB962C8B-B14F-4D97-AF65-F5344CB8AC3E}">
        <p14:creationId xmlns:p14="http://schemas.microsoft.com/office/powerpoint/2010/main" val="77428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2026-10-12T12:13:31.0020000Z</dcterms:created>
  <dcterms:modified xsi:type="dcterms:W3CDTF">2026-10-12T12:13:31.0020000Z</dcterms:modified>
</coreProperties>
</file>