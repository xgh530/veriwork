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2d7242e24444b0" /><Relationship Type="http://schemas.openxmlformats.org/officeDocument/2006/relationships/extended-properties" Target="/docProps/app.xml" Id="R5c99c4f503f14ab4" /><Relationship Type="http://schemas.openxmlformats.org/officeDocument/2006/relationships/officeDocument" Target="/ppt/presentation.xml" Id="R07453410ff5e42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1919156ace438d"/>
  </p:sldMasterIdLst>
  <p:notesMasterIdLst>
    <p:notesMasterId xmlns:r="http://schemas.openxmlformats.org/officeDocument/2006/relationships" r:id="Rfb18b0a008004c24"/>
  </p:notesMasterIdLst>
  <p:sldIdLst>
    <p:sldId xmlns:r="http://schemas.openxmlformats.org/officeDocument/2006/relationships" id="256" r:id="R371999011ec044d4"/>
    <p:sldId xmlns:r="http://schemas.openxmlformats.org/officeDocument/2006/relationships" id="257" r:id="Ra361cd5d916c406e"/>
    <p:sldId xmlns:r="http://schemas.openxmlformats.org/officeDocument/2006/relationships" id="258" r:id="R9ac9de723c924750"/>
    <p:sldId xmlns:r="http://schemas.openxmlformats.org/officeDocument/2006/relationships" id="259" r:id="R5b7c991985d84e21"/>
    <p:sldId xmlns:r="http://schemas.openxmlformats.org/officeDocument/2006/relationships" id="260" r:id="R20fc079c11754c41"/>
    <p:sldId xmlns:r="http://schemas.openxmlformats.org/officeDocument/2006/relationships" id="261" r:id="Redf6cec788ef424d"/>
    <p:sldId xmlns:r="http://schemas.openxmlformats.org/officeDocument/2006/relationships" id="262" r:id="R0384e7f50673463b"/>
    <p:sldId xmlns:r="http://schemas.openxmlformats.org/officeDocument/2006/relationships" id="263" r:id="R141e8529a5a44fba"/>
    <p:sldId xmlns:r="http://schemas.openxmlformats.org/officeDocument/2006/relationships" id="264" r:id="R3bf756f75dc04ebd"/>
    <p:sldId xmlns:r="http://schemas.openxmlformats.org/officeDocument/2006/relationships" id="265" r:id="Rf6f40f10df9645bd"/>
    <p:sldId xmlns:r="http://schemas.openxmlformats.org/officeDocument/2006/relationships" id="266" r:id="R8b7d2836b60c4ed5"/>
    <p:sldId xmlns:r="http://schemas.openxmlformats.org/officeDocument/2006/relationships" id="267" r:id="R486ee5ca4cbf46cf"/>
    <p:sldId xmlns:r="http://schemas.openxmlformats.org/officeDocument/2006/relationships" id="268" r:id="R7855f63b912746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f83acfcfb540a1" /><Relationship Type="http://schemas.openxmlformats.org/officeDocument/2006/relationships/slideMaster" Target="/ppt/slideMasters/slideMaster1.xml" Id="Rea1919156ace438d" /><Relationship Type="http://schemas.openxmlformats.org/officeDocument/2006/relationships/notesMaster" Target="/ppt/notesMasters/notesMaster1.xml" Id="Rfb18b0a008004c24" /><Relationship Type="http://schemas.openxmlformats.org/officeDocument/2006/relationships/presProps" Target="/ppt/presProps.xml" Id="R0c4d98be3ad747ca" /><Relationship Type="http://schemas.openxmlformats.org/officeDocument/2006/relationships/tableStyles" Target="/ppt/tableStyles.xml" Id="R29e292ff0b784a5f" /><Relationship Type="http://schemas.openxmlformats.org/officeDocument/2006/relationships/slide" Target="/ppt/slides/slide1.xml" Id="R371999011ec044d4" /><Relationship Type="http://schemas.openxmlformats.org/officeDocument/2006/relationships/slide" Target="/ppt/slides/slide2.xml" Id="Ra361cd5d916c406e" /><Relationship Type="http://schemas.openxmlformats.org/officeDocument/2006/relationships/slide" Target="/ppt/slides/slide3.xml" Id="R9ac9de723c924750" /><Relationship Type="http://schemas.openxmlformats.org/officeDocument/2006/relationships/slide" Target="/ppt/slides/slide4.xml" Id="R5b7c991985d84e21" /><Relationship Type="http://schemas.openxmlformats.org/officeDocument/2006/relationships/slide" Target="/ppt/slides/slide5.xml" Id="R20fc079c11754c41" /><Relationship Type="http://schemas.openxmlformats.org/officeDocument/2006/relationships/slide" Target="/ppt/slides/slide6.xml" Id="Redf6cec788ef424d" /><Relationship Type="http://schemas.openxmlformats.org/officeDocument/2006/relationships/slide" Target="/ppt/slides/slide7.xml" Id="R0384e7f50673463b" /><Relationship Type="http://schemas.openxmlformats.org/officeDocument/2006/relationships/slide" Target="/ppt/slides/slide8.xml" Id="R141e8529a5a44fba" /><Relationship Type="http://schemas.openxmlformats.org/officeDocument/2006/relationships/slide" Target="/ppt/slides/slide9.xml" Id="R3bf756f75dc04ebd" /><Relationship Type="http://schemas.openxmlformats.org/officeDocument/2006/relationships/slide" Target="/ppt/slides/slide10.xml" Id="Rf6f40f10df9645bd" /><Relationship Type="http://schemas.openxmlformats.org/officeDocument/2006/relationships/slide" Target="/ppt/slides/slide11.xml" Id="R8b7d2836b60c4ed5" /><Relationship Type="http://schemas.openxmlformats.org/officeDocument/2006/relationships/slide" Target="/ppt/slides/slide12.xml" Id="R486ee5ca4cbf46cf" /><Relationship Type="http://schemas.openxmlformats.org/officeDocument/2006/relationships/slide" Target="/ppt/slides/slide13.xml" Id="R7855f63b912746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c30a15ea2e43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3b66cd04af43df" /><Relationship Type="http://schemas.openxmlformats.org/officeDocument/2006/relationships/notesMaster" Target="/ppt/notesMasters/notesMaster1.xml" Id="Re2b4d32f1f0249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63fddeabf141fe" /><Relationship Type="http://schemas.openxmlformats.org/officeDocument/2006/relationships/notesMaster" Target="/ppt/notesMasters/notesMaster1.xml" Id="R91b55b19325841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c1f9ea316c416e" /><Relationship Type="http://schemas.openxmlformats.org/officeDocument/2006/relationships/notesMaster" Target="/ppt/notesMasters/notesMaster1.xml" Id="R52333ff72c124b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67008ec8104f80" /><Relationship Type="http://schemas.openxmlformats.org/officeDocument/2006/relationships/notesMaster" Target="/ppt/notesMasters/notesMaster1.xml" Id="R237040603bc443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e21de9255f4e61" /><Relationship Type="http://schemas.openxmlformats.org/officeDocument/2006/relationships/notesMaster" Target="/ppt/notesMasters/notesMaster1.xml" Id="R5c683af4901d40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586f348a564b35" /><Relationship Type="http://schemas.openxmlformats.org/officeDocument/2006/relationships/notesMaster" Target="/ppt/notesMasters/notesMaster1.xml" Id="Rc7ddf2215b3247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8f17df5c914ea1" /><Relationship Type="http://schemas.openxmlformats.org/officeDocument/2006/relationships/notesMaster" Target="/ppt/notesMasters/notesMaster1.xml" Id="Rf363156695c245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14e5cde7324c79" /><Relationship Type="http://schemas.openxmlformats.org/officeDocument/2006/relationships/notesMaster" Target="/ppt/notesMasters/notesMaster1.xml" Id="R680041683f724f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49221ce1eb47fe" /><Relationship Type="http://schemas.openxmlformats.org/officeDocument/2006/relationships/notesMaster" Target="/ppt/notesMasters/notesMaster1.xml" Id="R56ce5674620744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81129b440a41e4" /><Relationship Type="http://schemas.openxmlformats.org/officeDocument/2006/relationships/notesMaster" Target="/ppt/notesMasters/notesMaster1.xml" Id="R75bf53240d6444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1dbebe47ac473f" /><Relationship Type="http://schemas.openxmlformats.org/officeDocument/2006/relationships/notesMaster" Target="/ppt/notesMasters/notesMaster1.xml" Id="R218341942ae44f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437f43c4db48d7" /><Relationship Type="http://schemas.openxmlformats.org/officeDocument/2006/relationships/notesMaster" Target="/ppt/notesMasters/notesMaster1.xml" Id="Rd78754f9992e4b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e6e6128ee5435e" /><Relationship Type="http://schemas.openxmlformats.org/officeDocument/2006/relationships/notesMaster" Target="/ppt/notesMasters/notesMaster1.xml" Id="Redf4e07e0cdb43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ac43ee1e04a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2522525064a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0dcfa37ef4f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4553dc7f04d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c84afeb0649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41a700cc647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A1234C-6788-4CC5-A611-09914F1AA2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E97BD4-B308-467D-B49A-68653243FB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32319A-9C95-489E-A0B2-EC9103E19F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6074DC-1D2C-433F-BC98-17C1D3929F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804921-A562-4B68-8ECC-A0F904C66E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BE3144-90D7-44A9-88E1-AE0A53FE4A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A3272F-F166-4BD5-A5CD-80F82C8FE1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B9F8A7-8C12-4FEA-97B3-B904849689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CE9681-AB7C-44EA-B38B-8D14305E26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5286A0-C726-49D0-997C-3F36620A84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49e5400f1e4daf" /><Relationship Type="http://schemas.openxmlformats.org/officeDocument/2006/relationships/slideLayout" Target="/ppt/slideLayouts/slideLayout1.xml" Id="R897dc36968f94a59" /><Relationship Type="http://schemas.openxmlformats.org/officeDocument/2006/relationships/slideLayout" Target="/ppt/slideLayouts/slideLayout2.xml" Id="Re0a2b99d32d54949" /><Relationship Type="http://schemas.openxmlformats.org/officeDocument/2006/relationships/slideLayout" Target="/ppt/slideLayouts/slideLayout3.xml" Id="R6e78a736c35249ea" /><Relationship Type="http://schemas.openxmlformats.org/officeDocument/2006/relationships/slideLayout" Target="/ppt/slideLayouts/slideLayout4.xml" Id="Rfd62f34fc27445d0" /><Relationship Type="http://schemas.openxmlformats.org/officeDocument/2006/relationships/slideLayout" Target="/ppt/slideLayouts/slideLayout5.xml" Id="R88979f35e3964ea4" /><Relationship Type="http://schemas.openxmlformats.org/officeDocument/2006/relationships/slideLayout" Target="/ppt/slideLayouts/slideLayout6.xml" Id="R5f6e6a2d6f8345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7dc36968f94a59"/>
    <p:sldLayoutId xmlns:r="http://schemas.openxmlformats.org/officeDocument/2006/relationships" id="2147483650" r:id="Re0a2b99d32d54949"/>
    <p:sldLayoutId xmlns:r="http://schemas.openxmlformats.org/officeDocument/2006/relationships" id="2147483651" r:id="R6e78a736c35249ea"/>
    <p:sldLayoutId xmlns:r="http://schemas.openxmlformats.org/officeDocument/2006/relationships" id="2147483652" r:id="Rfd62f34fc27445d0"/>
    <p:sldLayoutId xmlns:r="http://schemas.openxmlformats.org/officeDocument/2006/relationships" id="2147483653" r:id="R88979f35e3964ea4"/>
    <p:sldLayoutId xmlns:r="http://schemas.openxmlformats.org/officeDocument/2006/relationships" id="2147483654" r:id="R5f6e6a2d6f8345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665f7ac104252" /><Relationship Type="http://schemas.openxmlformats.org/officeDocument/2006/relationships/notesSlide" Target="/ppt/notesSlides/notesSlide1.xml" Id="R28d90dfbabec4b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64646825647eb" /><Relationship Type="http://schemas.openxmlformats.org/officeDocument/2006/relationships/notesSlide" Target="/ppt/notesSlides/notesSlide2.xml" Id="Rfd9243c3d05949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6d1e9900b4c72" /><Relationship Type="http://schemas.openxmlformats.org/officeDocument/2006/relationships/notesSlide" Target="/ppt/notesSlides/notesSlide3.xml" Id="Rf07e31f73a5843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11740c30e403c" /><Relationship Type="http://schemas.openxmlformats.org/officeDocument/2006/relationships/notesSlide" Target="/ppt/notesSlides/notesSlide4.xml" Id="Ree894256c11e4e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9ef7871344db1" /><Relationship Type="http://schemas.openxmlformats.org/officeDocument/2006/relationships/notesSlide" Target="/ppt/notesSlides/notesSlide5.xml" Id="R2b307175963b49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c691b740f4483" /><Relationship Type="http://schemas.openxmlformats.org/officeDocument/2006/relationships/notesSlide" Target="/ppt/notesSlides/notesSlide6.xml" Id="R059c1f2e0caf44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428c4b9ef34cd7" /><Relationship Type="http://schemas.openxmlformats.org/officeDocument/2006/relationships/notesSlide" Target="/ppt/notesSlides/notesSlide7.xml" Id="R3309b5baf28d40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914fd7eb64237" /><Relationship Type="http://schemas.openxmlformats.org/officeDocument/2006/relationships/notesSlide" Target="/ppt/notesSlides/notesSlide8.xml" Id="R4fbf6d5956f444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f5c66cae441e3" /><Relationship Type="http://schemas.openxmlformats.org/officeDocument/2006/relationships/notesSlide" Target="/ppt/notesSlides/notesSlide9.xml" Id="Ra060ea1ab1d542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fb87ce5754142" /><Relationship Type="http://schemas.openxmlformats.org/officeDocument/2006/relationships/notesSlide" Target="/ppt/notesSlides/notesSlide10.xml" Id="Rea4c5eb199504b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05556ad134553" /><Relationship Type="http://schemas.openxmlformats.org/officeDocument/2006/relationships/notesSlide" Target="/ppt/notesSlides/notesSlide11.xml" Id="R0ebc0a04ce5042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6ea9d780f5467f" /><Relationship Type="http://schemas.openxmlformats.org/officeDocument/2006/relationships/notesSlide" Target="/ppt/notesSlides/notesSlide12.xml" Id="Rd7f15627f4854a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4a9a232fe47e9" /><Relationship Type="http://schemas.openxmlformats.org/officeDocument/2006/relationships/notesSlide" Target="/ppt/notesSlides/notesSlide13.xml" Id="R78eed9d3d0fb4c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8DA0F-7BF5-43B1-81F5-914E0546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0D5BE"/>
                </a:solidFill>
              </a:defRPr>
            </a:pPr>
            <a:r>
              <a:rPr sz="975" b="1">
                <a:solidFill>
                  <a:srgbClr val="00D5BE"/>
                </a:solidFill>
              </a:rPr>
              <a:t>TRUSTED EMPLOYMENT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5D73E-65EA-4988-84C9-07ABA0FA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职安盾 VeriWork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C00E2-60B8-40B3-9CC5-D6B11D68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AD5E2"/>
                </a:solidFill>
              </a:defRPr>
            </a:pPr>
            <a:r>
              <a:rPr sz="1800" b="0">
                <a:solidFill>
                  <a:srgbClr val="CAD5E2"/>
                </a:solidFill>
              </a:rPr>
              <a:t>面向高校毕业生就业合同的可验证 AI 风险评估与证据链系统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A61BC-199A-4963-A815-6A27AE57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D5BE"/>
                </a:solidFill>
              </a:defRPr>
            </a:pPr>
            <a:r>
              <a:rPr sz="1350" b="0">
                <a:solidFill>
                  <a:srgbClr val="00D5BE"/>
                </a:solidFill>
              </a:rPr>
              <a:t>规则硬约束  ·  法源可追溯  ·  大模型受限召回  ·  拒答与复核  ·  行动闭环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07703-4D2E-4D54-B799-B50EB5B8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0A1B9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0A1B9"/>
                </a:solidFill>
              </a:defRPr>
            </a:pPr>
            <a:r>
              <a:rPr sz="1125" b="0">
                <a:solidFill>
                  <a:srgbClr val="90A1B9"/>
                </a:solidFill>
              </a:rPr>
              <a:t>团队：【待填写】    指导教师：【待填写】</a:t>
            </a:r>
          </a:p>
        </p:txBody>
      </p:sp>
    </p:spTree>
    <p:extLst>
      <p:ext uri="{BB962C8B-B14F-4D97-AF65-F5344CB8AC3E}">
        <p14:creationId xmlns:p14="http://schemas.microsoft.com/office/powerpoint/2010/main" val="1887274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5DF10-CDF8-4D9C-9846-A8C6D848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01 · 问题定义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502F7-8C0E-47CF-B41C-C0857FBA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就业合同风险判断不可信，行动也不闭环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CB72C-A30F-41FA-8CEB-077FEE90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571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D7D35-D41C-40EE-AE60-B285DC36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用户缺少知识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58FFF-6FA2-480F-8275-5E649CCC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应届生难以及时识别试用期、社保、押金、培训贷、竞业和离职条款中的风险。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CB222-00F3-4F9B-9393-0347FE0A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571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2FFAD-B7DA-4B9C-9506-E6696561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通用模型会编造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6A2D3-F6E1-47CD-A5C8-C391EA1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38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看似专业，但可能引用错误法条，也可能把合法条款判成违法。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8B60E-C8A2-4FB1-8B35-521D1BFE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571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443D6-9C80-45F2-B105-89D8DCF2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知道风险也无法行动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202EC-4C93-465D-B103-13A447C1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用户仍不知道保存什么证据、如何沟通、向谁提交材料。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7359F-C678-4815-8230-6DA27ECB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7813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0D9BB-5D07-43AF-B07E-E5AACBF2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高后果却难量化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C61BD-21A3-4001-878E-A3E165E2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2362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现有工具极少公开风险召回、错误引用和确定性失败案例。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038B9-1EEB-4A48-94D8-50E36678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B900"/>
                </a:solidFill>
              </a:defRPr>
            </a:pPr>
            <a:r>
              <a:rPr sz="1800" b="1">
                <a:solidFill>
                  <a:srgbClr val="FFB900"/>
                </a:solidFill>
              </a:rPr>
              <a:t>目标：让 AI 在高后果场景里说清依据、承认不确定、给出下一步。</a:t>
            </a:r>
          </a:p>
        </p:txBody>
      </p:sp>
    </p:spTree>
    <p:extLst>
      <p:ext uri="{BB962C8B-B14F-4D97-AF65-F5344CB8AC3E}">
        <p14:creationId xmlns:p14="http://schemas.microsoft.com/office/powerpoint/2010/main" val="2111687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D676B-7816-44FE-A220-DD81A721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02 · 为什么不能直接用通用模型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1EBD0-CADF-462D-B50B-B9E681E4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“会回答”不等于“可信任”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DC8A9-3C69-4885-8E90-175DF27B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A7CAF-7090-40A7-97A1-8B2BC5EF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没有硬约束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ECBB8-5DF0-4FE3-B678-F60D4C8C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试用期、社保、收费等硬规则不能交给模型自由生成。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76C9A-F0DB-45CD-B07A-D9732FB1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CE73D-276E-46BE-AECD-9C075259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没有可追溯依据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947BD-3797-476E-95ED-04FF4A0E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结论可能没有原文定位，也可能引用失效或不适用法条。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23EBF-8F56-4D85-96B3-B6CCC620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278D1-3A17-401D-9063-74B75089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B900"/>
                </a:solidFill>
              </a:defRPr>
            </a:pPr>
            <a:r>
              <a:rPr sz="1575" b="1">
                <a:solidFill>
                  <a:srgbClr val="FFB900"/>
                </a:solidFill>
              </a:rPr>
              <a:t>不会主动拒答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FDA18-7682-45C5-B830-0D706968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信息不足时仍倾向输出完整答案，形成确定但错误的风险结论。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9B6D9-79B4-4E89-945D-9D358A40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62375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C5BB7-F59A-4DD2-96B9-F6A0CB8F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52875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无法形成闭环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80F6B-1DAF-42B1-B530-14E8930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91025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回答停留在文本，不能继续生成证据清单和办理路径。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C592C-2A99-444F-9BBE-EE28FD32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职安盾研究的不是法律问答，而是大模型在高风险垂直场景中的可信决策机制。</a:t>
            </a:r>
          </a:p>
        </p:txBody>
      </p:sp>
    </p:spTree>
    <p:extLst>
      <p:ext uri="{BB962C8B-B14F-4D97-AF65-F5344CB8AC3E}">
        <p14:creationId xmlns:p14="http://schemas.microsoft.com/office/powerpoint/2010/main" val="1244341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4BA0A4-9652-49D6-ACEA-5963CA43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03 · 可信链路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11233-3FD2-4FB4-9417-2FF66C5B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六层可信研判链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E51C8-D649-408C-916D-7620BCBE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D0888-D21B-44A7-853D-5D325CC0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E80E5-D20F-490E-BDFC-BAFD45DE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输入层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A4DFD-757F-46F5-A2A3-4FFF2C6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AD5E2"/>
                </a:solidFill>
              </a:defRPr>
            </a:pPr>
            <a:r>
              <a:rPr sz="1050" b="0">
                <a:solidFill>
                  <a:srgbClr val="CAD5E2"/>
                </a:solidFill>
              </a:rPr>
              <a:t>合同、Offer、实习协议、聊天与工资记录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9882F-640F-4CA1-807B-210E4B97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D7DDD-64FB-4747-8658-CA6B687A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0CDEA-3C45-495A-80E6-7679C34A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抽取层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4A083-6C63-45A1-9DB4-3746C1B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AD5E2"/>
                </a:solidFill>
              </a:defRPr>
            </a:pPr>
            <a:r>
              <a:rPr sz="1050" b="0">
                <a:solidFill>
                  <a:srgbClr val="CAD5E2"/>
                </a:solidFill>
              </a:rPr>
              <a:t>条款切分、关键事实抽取和结构化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ABDE8-BBB2-47DE-A685-1D1D8C5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0976-99B7-4873-A557-8CFBAB48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AC32E-F06A-4FB7-93D7-6B395D2E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知识层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1E8DF-6F58-4987-9046-BACFBF71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AD5E2"/>
                </a:solidFill>
              </a:defRPr>
            </a:pPr>
            <a:r>
              <a:rPr sz="1050" b="0">
                <a:solidFill>
                  <a:srgbClr val="CAD5E2"/>
                </a:solidFill>
              </a:rPr>
              <a:t>公开法源、地方政策和版本追踪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F3EFE-CCE9-4CD0-BBCC-DF4FFA7E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E3D64-CAEF-4D4C-B513-F83AB161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C31F7-D328-41DD-9262-42B47EEC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决策层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5D9FD-A9CA-4B4E-8407-8F77B42D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AD5E2"/>
                </a:solidFill>
              </a:defRPr>
            </a:pPr>
            <a:r>
              <a:rPr sz="1050" b="0">
                <a:solidFill>
                  <a:srgbClr val="CAD5E2"/>
                </a:solidFill>
              </a:rPr>
              <a:t>确定性规则 + 语义识别 + 大模型候选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58908-0133-49C9-AA1D-E9EA5C30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2FDA7-A032-4F22-9D20-B0089883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0250E6-A9D6-48D2-B2E8-66D93214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校验层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7249A-A132-48B5-845A-CB2DA9DB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AD5E2"/>
                </a:solidFill>
              </a:defRPr>
            </a:pPr>
            <a:r>
              <a:rPr sz="1050" b="0">
                <a:solidFill>
                  <a:srgbClr val="CAD5E2"/>
                </a:solidFill>
              </a:rPr>
              <a:t>原文校验、引用核查、拒答和人工复核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F2A0A6-E66A-4E2F-8BE3-A06DD3CE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1EF72-806B-4CFF-AA50-CBBBA776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44821-1FEE-41CE-BB2F-9A9AEAD3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行动层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93AAA4-F000-47A9-849E-B0B76909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AD5E2"/>
                </a:solidFill>
              </a:defRPr>
            </a:pPr>
            <a:r>
              <a:rPr sz="1050" b="0">
                <a:solidFill>
                  <a:srgbClr val="CAD5E2"/>
                </a:solidFill>
              </a:rPr>
              <a:t>证据清单、沟通问题和材料草稿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80CC7E-E37A-4365-BE9A-9FBF3AEB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B900"/>
                </a:solidFill>
              </a:defRPr>
            </a:pPr>
            <a:r>
              <a:rPr sz="1650" b="1">
                <a:solidFill>
                  <a:srgbClr val="FFB900"/>
                </a:solidFill>
              </a:rPr>
              <a:t>模型只能补充有原文依据的候选风险，不能修改风险等级或新增法源。</a:t>
            </a:r>
          </a:p>
        </p:txBody>
      </p:sp>
    </p:spTree>
    <p:extLst>
      <p:ext uri="{BB962C8B-B14F-4D97-AF65-F5344CB8AC3E}">
        <p14:creationId xmlns:p14="http://schemas.microsoft.com/office/powerpoint/2010/main" val="345483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2CDD7-5709-4CD0-8066-F8AD2E61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04 · 产品闭环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26B1D-6201-4769-AB10-077E7353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从风险提示走到证据与行动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5F171-C025-461A-84C9-23EF5D13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7A2CC-0BAB-49A5-856D-A044C443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合同研判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0A676-A54A-452E-A8FF-8611B037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009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输出风险分、风险清单、原文片段、法源依据、置信度和行动建议。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14EDE-9BFB-4CF4-B2A3-EA2DAB35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89032-B5AA-4AEA-8564-58215D98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可信轨迹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C20AB-BF56-4322-BCDB-80611A27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3009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展示规则、语义、法源检索、大模型候选和拒答过程。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7ECCF-127C-4A26-8EB3-100C15AB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E84AD-ABD5-485A-BEDC-D89F78F3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证据与材料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C4822-3FD8-43AA-8930-C0FBA4DE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3009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生成证据清单、事件时间线、HR沟通问题和投诉/仲裁材料草稿。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46440-CAE3-42D6-BCD9-C94BB7E6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0D5BE"/>
                </a:solidFill>
              </a:defRPr>
            </a:pPr>
            <a:r>
              <a:rPr sz="1575" b="0">
                <a:solidFill>
                  <a:srgbClr val="00D5BE"/>
                </a:solidFill>
              </a:rPr>
              <a:t>现场演示：载入风险合同 → 运行研判 → 查看候选风险 → 条款定位 → 证据链 → 评测。</a:t>
            </a:r>
          </a:p>
        </p:txBody>
      </p:sp>
    </p:spTree>
    <p:extLst>
      <p:ext uri="{BB962C8B-B14F-4D97-AF65-F5344CB8AC3E}">
        <p14:creationId xmlns:p14="http://schemas.microsoft.com/office/powerpoint/2010/main" val="16780176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93309-6BCA-4D24-9946-B3126D87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05 · 创新一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ED848-7029-4322-963F-67B0FD59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规则拥有硬约束权，模型只拥有解释权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CA290-F8DB-45D6-A60D-537FD35F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238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99062-71FF-47F9-A49F-F460B1EE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规则引擎：确定性判断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C5C87-E769-4113-A23B-2B57B30A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819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处理试用期期限、社保、押金、培训贷、加班费、竞业限制等规则明确的事项。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3460F-6A38-4D0A-9098-46C41920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05000"/>
            <a:ext cx="5429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A63FD-BEA9-4F88-821A-25B933D9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安全例外：拒绝关键词误伤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93EBD-5236-44C2-BAA4-6C2464D7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010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识别“不收取押金”“不低于80%”“三年以上合同六个月试用期”等合法或否定表达。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9D8C6-702B-4808-B0B9-46B6828F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B900"/>
                </a:solidFill>
              </a:defRPr>
            </a:pPr>
            <a:r>
              <a:rPr sz="1650" b="1">
                <a:solidFill>
                  <a:srgbClr val="FFB900"/>
                </a:solidFill>
              </a:rPr>
              <a:t>与普通 RAG 问答最本质的差异：模型输出不能覆盖程序硬规则。</a:t>
            </a:r>
          </a:p>
        </p:txBody>
      </p:sp>
    </p:spTree>
    <p:extLst>
      <p:ext uri="{BB962C8B-B14F-4D97-AF65-F5344CB8AC3E}">
        <p14:creationId xmlns:p14="http://schemas.microsoft.com/office/powerpoint/2010/main" val="14147180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C1A82-284E-4572-AD95-927E1C48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06 · 创新二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E48D9-3E01-4213-9349-6619E45B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证据不足时停止“自信地胡说”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900D0-BD54-45F8-9F16-5C1394BC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238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59FFC-D3E0-4A1A-BAB3-4E807B40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结论绑定原文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1E741-CB8B-4D4D-8702-0234BCDD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819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每项风险必须回到合同中的真实片段。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4DDF4-22B9-42A5-B94F-243356E1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5429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69263-925F-49BD-88BC-7C38DEA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结论绑定法源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1276F-A463-4B65-8441-C2737FA3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5010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规则映射核心法源，条款关键词再执行本地检索排序。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9BA84-C6A1-453A-9FB7-51D732A5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5238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191C4-6BB0-4E88-94F8-EBC79AA6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信息不足进入待核实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DC46A-0970-4CA5-99F6-210C0AE5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819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实习、兼职、项目合作和关键条款缺失时不输出确定回答。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B95DA-73D6-41BD-9E78-7452CA4E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2375"/>
            <a:ext cx="5429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7BE7A-F60C-4138-93E5-B3979B2F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保留失败案例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9A0FF-E157-4CAA-8FD2-805E184E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91025"/>
            <a:ext cx="5010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错误进入评测报告和下一轮迭代，不通过删除失败样本制造完美指标。</a:t>
            </a:r>
          </a:p>
        </p:txBody>
      </p:sp>
    </p:spTree>
    <p:extLst>
      <p:ext uri="{BB962C8B-B14F-4D97-AF65-F5344CB8AC3E}">
        <p14:creationId xmlns:p14="http://schemas.microsoft.com/office/powerpoint/2010/main" val="6724045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92599-A591-4A27-96D4-B3A43D2D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07 · 评测设计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0306B-F7AA-4E70-8274-0D21933B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把“看起来能用”变成可复现实验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49D1A-3C6D-4C49-BA4A-5D12096C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3429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2DA70-6F84-4D53-8096-1301EEFC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80条开发回归集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3DA76-9FE0-483F-9E0E-4A9BA399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009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覆盖13类风险、安全对照和待核实场景，用于规则开发和功能回归。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48155-F03F-4501-A2AC-B61032AF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CDDFC-933F-47DA-8F97-718C3788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32条早期留出集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DC8EC-9C7C-42AA-9CFD-DD2FAB15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3009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暴露关键词规则在“工装费、毕业证、技能贷款”等新表达上的泛化问题。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99B6E-67CE-4969-B11E-C72F332C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05000"/>
            <a:ext cx="3429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0B32A-F663-48C9-975E-F1533C94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40条冻结留出集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0C4FD-5635-4E08-9FB1-B44AC6F8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009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规则开发后创建，不再针对结果调参，用于报告真实泛化差距。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64EAB-1DA9-40B7-BD1E-A024F33F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CAD5E2"/>
                </a:solidFill>
              </a:defRPr>
            </a:pPr>
            <a:r>
              <a:rPr sz="1425" b="0">
                <a:solidFill>
                  <a:srgbClr val="CAD5E2"/>
                </a:solidFill>
              </a:rPr>
              <a:t>所有合成数据均标注来源、难度、期望风险、拒答要求和复核状态。</a:t>
            </a:r>
          </a:p>
        </p:txBody>
      </p:sp>
    </p:spTree>
    <p:extLst>
      <p:ext uri="{BB962C8B-B14F-4D97-AF65-F5344CB8AC3E}">
        <p14:creationId xmlns:p14="http://schemas.microsoft.com/office/powerpoint/2010/main" val="399261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6DC1D-1A7C-4C36-87F6-B2039940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08 · 当前实测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27099-E563-4B94-8E3E-3E7AFF4A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同轮公平对照：风险指标相当，法源覆盖显著不同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A64D9-4BF1-4F69-9EE0-308E350E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5238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CE6C4-422E-476F-AAF7-6539F027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492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492"/>
                </a:solidFill>
              </a:defRPr>
            </a:pPr>
            <a:r>
              <a:rPr sz="1575" b="1">
                <a:solidFill>
                  <a:srgbClr val="00D492"/>
                </a:solidFill>
              </a:rPr>
              <a:t>DeepSeek-Flash · 40/40成功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213B1-3213-44A2-AF30-4E028788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819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通用模型直答与职安盾混合链：P 96.3% / R 100% / F1 98.1%。混合链法源覆盖从 0% 提升到 100%。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02679-4158-4EE8-8E1B-B22AE529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71650"/>
            <a:ext cx="5429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A53C9-D374-446E-9316-A661AA74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B900"/>
                </a:solidFill>
              </a:defRPr>
            </a:pPr>
            <a:r>
              <a:rPr sz="1575" b="1">
                <a:solidFill>
                  <a:srgbClr val="FFB900"/>
                </a:solidFill>
              </a:rPr>
              <a:t>DeepSeek-V4-Pro · 32/40成功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57DF7-9AFA-4CFD-8885-0401659D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501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32条成功样本：P/R/F1均为96.2%。8条因账户余额不足失败，未计入成绩。混合链法源覆盖100%。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D920A-7C68-4091-9AFA-13A9DFFD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10109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D5C89-C693-46ED-8C7D-E2BB33A2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如何解释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BFAAC-E4DF-4A7C-89F6-4E55A7E8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模型在已知风险ID内已有较强语义能力；真正不可替代的是法源可追溯、原文校验、硬规则与拒答边界。不能把合成留出集结果说成真实用户准确率。</a:t>
            </a:r>
          </a:p>
        </p:txBody>
      </p:sp>
    </p:spTree>
    <p:extLst>
      <p:ext uri="{BB962C8B-B14F-4D97-AF65-F5344CB8AC3E}">
        <p14:creationId xmlns:p14="http://schemas.microsoft.com/office/powerpoint/2010/main" val="6704993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74FBD-98D8-41B6-93D7-AC57CD12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09 · 学校20日截止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33CDA-8852-4310-BB5D-3B5A9772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10天冲刺：先证据，后包装，绝不拖延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21CC7-8813-427C-B68D-E1B73CCA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D5BE"/>
                </a:solidFill>
              </a:defRPr>
            </a:pPr>
            <a:r>
              <a:rPr sz="1350" b="1">
                <a:solidFill>
                  <a:srgbClr val="00D5BE"/>
                </a:solidFill>
              </a:rPr>
              <a:t>10月10-11日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6A492-53D1-483F-9437-EFCCE78A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97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确定成员、指导教师和第一申报单位；完成官网注册；确认校内流程。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D7B9E-107E-495E-8415-CD824DE5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D5BE"/>
                </a:solidFill>
              </a:defRPr>
            </a:pPr>
            <a:r>
              <a:rPr sz="1350" b="1">
                <a:solidFill>
                  <a:srgbClr val="00D5BE"/>
                </a:solidFill>
              </a:rPr>
              <a:t>10月12-13日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FAFB8-12C2-467E-B18F-4354E74A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860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完成第二个模型实验；启动20人用户测试；收集测试数据和反馈。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C8B51-87BB-43E3-8478-C2127FED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D5BE"/>
                </a:solidFill>
              </a:defRPr>
            </a:pPr>
            <a:r>
              <a:rPr sz="1350" b="1">
                <a:solidFill>
                  <a:srgbClr val="00D5BE"/>
                </a:solidFill>
              </a:rPr>
              <a:t>10月14-15日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19D51-D9D2-4B6E-B12C-1EF9E94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623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法律实务人员抽样复核；核验北京、上海、广东政策原文。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914AD-9D21-4786-9443-EF207C60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D5BE"/>
                </a:solidFill>
              </a:defRPr>
            </a:pPr>
            <a:r>
              <a:rPr sz="1350" b="1">
                <a:solidFill>
                  <a:srgbClr val="00D5BE"/>
                </a:solidFill>
              </a:rPr>
              <a:t>10月16-17日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B2282-60E1-4904-A7A7-B6598D9B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完成作品介绍、AI说明、知识产权清单；录制演示视频。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2F15F-5C7A-4B30-A253-8AB2E5C2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D5BE"/>
                </a:solidFill>
              </a:defRPr>
            </a:pPr>
            <a:r>
              <a:rPr sz="1350" b="1">
                <a:solidFill>
                  <a:srgbClr val="00D5BE"/>
                </a:solidFill>
              </a:rPr>
              <a:t>10月18-19日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E2304-A147-4EF8-987E-2A550EB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149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全流程彩排、无网演示测试、材料终审，提前提交学校。</a:t>
            </a:r>
          </a:p>
        </p:txBody>
      </p:sp>
    </p:spTree>
    <p:extLst>
      <p:ext uri="{BB962C8B-B14F-4D97-AF65-F5344CB8AC3E}">
        <p14:creationId xmlns:p14="http://schemas.microsoft.com/office/powerpoint/2010/main" val="1432422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EF76B-BE43-40D6-A510-F85EF007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10 · 团队分工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6D08C-9858-470A-96D2-1E883AAC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五个人必须各自对一项证据负责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ED5C7-8C6A-4354-8395-451C74D7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42AD3-3DC6-48A1-B374-66F2E091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队长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7D7DC-9354-48E7-AE42-3190661B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注册、进度、学校沟通、最终提交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DA93D-14DB-4672-AA97-BC600D84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0392F-2B5D-4CD9-9470-7A5FBEE6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前端/产品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520B2-9191-4ADB-9161-AAA88D4D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系统演示、交互、截图、无网彩排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349F6-D3F1-4F0F-89B9-810AA084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B9A6E-B0E6-4D65-9FF2-14109E7F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后端/数据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44EF9-3437-44B8-8157-99CBBCF7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服务运行、隐私、数据说明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962DF-6970-4358-AA41-8491C5A8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7E086-689A-4788-9AEF-C9A0FDA8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模型/评测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204D9-DB55-4D68-B42C-2EABF86D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双模型实验、指标、失败案例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00105-5DE9-403F-8FA0-DDD22F16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CB5B5-E8B2-46B5-A5B5-E66E9DFE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设计/材料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B0AFE-3465-406E-83AD-38D43BEB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PPT、视频、AI说明、来源清单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D3BCB-A308-41D5-A435-60C00F67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B900"/>
                </a:solidFill>
              </a:defRPr>
            </a:pPr>
            <a:r>
              <a:rPr sz="1650" b="1">
                <a:solidFill>
                  <a:srgbClr val="FFB900"/>
                </a:solidFill>
              </a:rPr>
              <a:t>截止时间是20日，任何一项没有负责人，都会在最后两天变成阻塞。</a:t>
            </a:r>
          </a:p>
        </p:txBody>
      </p:sp>
    </p:spTree>
    <p:extLst>
      <p:ext uri="{BB962C8B-B14F-4D97-AF65-F5344CB8AC3E}">
        <p14:creationId xmlns:p14="http://schemas.microsoft.com/office/powerpoint/2010/main" val="12451270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CB503-B322-4739-A026-A6539B3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11 · 应用与边界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EA3B0-F19A-4BD5-AAB9-66CDF43B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面向真实就业服务，但不替代专业判断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204FB-C46C-45AD-885B-F5EE8266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34290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0F1C7-B8A3-4A4D-9A19-C51151E1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高校就业中心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B3A69-D007-4ECC-9C32-09DDAFBA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30099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合同自查、就业权益教育、脱敏后的典型风险案例。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52C5E-18FF-416D-AB2C-3468BCC4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57375"/>
            <a:ext cx="34290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BC344-2872-4B83-BF61-26D0034B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47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实习与灵活用工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A7026-41B5-49A9-8DAA-D527D2D1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30099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覆盖实习、兼职、项目合作等高风险但规则复杂场景。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B631A-AFAB-421F-B104-00085FB1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57375"/>
            <a:ext cx="34290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87A10-AB87-438F-8A81-0EA476E3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B900"/>
                </a:solidFill>
              </a:defRPr>
            </a:pPr>
            <a:r>
              <a:rPr sz="1575" b="1">
                <a:solidFill>
                  <a:srgbClr val="FFB900"/>
                </a:solidFill>
              </a:rPr>
              <a:t>地方政策扩展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13294-EB21-46E4-8B27-980729DC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30099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全国规则加地方政策包，动态标准必须核验来源和生效日期。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3937F-DDE7-4719-8031-9181FC39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产品定位：普法、风险提示和材料整理工具，不替代律师、仲裁机构或人社部门。</a:t>
            </a:r>
          </a:p>
        </p:txBody>
      </p:sp>
    </p:spTree>
    <p:extLst>
      <p:ext uri="{BB962C8B-B14F-4D97-AF65-F5344CB8AC3E}">
        <p14:creationId xmlns:p14="http://schemas.microsoft.com/office/powerpoint/2010/main" val="8501446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0B670-DC84-4E5E-A881-86C4001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1DE56-9F0D-4FB4-9B33-40B12DBD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8FAFC"/>
                </a:solidFill>
              </a:defRPr>
            </a:pPr>
            <a:r>
              <a:rPr sz="3450" b="1">
                <a:solidFill>
                  <a:srgbClr val="F8FAFC"/>
                </a:solidFill>
              </a:rPr>
              <a:t>让高风险场景中的 AI</a:t>
            </a:r>
          </a:p>
          <a:p xmlns:a="http://schemas.openxmlformats.org/drawingml/2006/main">
            <a:pPr>
              <a:defRPr sz="3450" b="1">
                <a:solidFill>
                  <a:srgbClr val="F8FAFC"/>
                </a:solidFill>
              </a:defRPr>
            </a:pPr>
            <a:r>
              <a:rPr sz="3450" b="1">
                <a:solidFill>
                  <a:srgbClr val="F8FAFC"/>
                </a:solidFill>
              </a:rPr>
              <a:t>有依据、可验证、能行动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20C92-4E95-40CE-98C5-662B1C25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D5BE"/>
                </a:solidFill>
              </a:defRPr>
            </a:pPr>
            <a:r>
              <a:rPr sz="1800" b="0">
                <a:solidFill>
                  <a:srgbClr val="00D5BE"/>
                </a:solidFill>
              </a:rPr>
              <a:t>职安盾 VeriWork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87784-0D0D-4629-A0B5-49CED3C4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0A1B9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0A1B9"/>
                </a:solidFill>
              </a:defRPr>
            </a:pPr>
            <a:r>
              <a:rPr sz="1125" b="0">
                <a:solidFill>
                  <a:srgbClr val="90A1B9"/>
                </a:solidFill>
              </a:rPr>
              <a:t>团队：【待填写】    指导教师：【待填写】</a:t>
            </a:r>
          </a:p>
        </p:txBody>
      </p:sp>
    </p:spTree>
    <p:extLst>
      <p:ext uri="{BB962C8B-B14F-4D97-AF65-F5344CB8AC3E}">
        <p14:creationId xmlns:p14="http://schemas.microsoft.com/office/powerpoint/2010/main" val="779990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2026-10-10T02:21:57.5970000Z</dcterms:created>
  <dcterms:modified xsi:type="dcterms:W3CDTF">2026-10-10T02:21:57.5970000Z</dcterms:modified>
</coreProperties>
</file>