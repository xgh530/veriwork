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b56919e05e4511" /><Relationship Type="http://schemas.openxmlformats.org/officeDocument/2006/relationships/extended-properties" Target="/docProps/app.xml" Id="R438af2109aaf4a54" /><Relationship Type="http://schemas.openxmlformats.org/officeDocument/2006/relationships/officeDocument" Target="/ppt/presentation.xml" Id="Rdc9fb66e8773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2b1aa135334a94"/>
  </p:sldMasterIdLst>
  <p:notesMasterIdLst>
    <p:notesMasterId xmlns:r="http://schemas.openxmlformats.org/officeDocument/2006/relationships" r:id="R4d729c4181e44fba"/>
  </p:notesMasterIdLst>
  <p:sldIdLst>
    <p:sldId xmlns:r="http://schemas.openxmlformats.org/officeDocument/2006/relationships" id="256" r:id="R0d63da7840b74c82"/>
    <p:sldId xmlns:r="http://schemas.openxmlformats.org/officeDocument/2006/relationships" id="257" r:id="Ra14b98f393b84189"/>
    <p:sldId xmlns:r="http://schemas.openxmlformats.org/officeDocument/2006/relationships" id="258" r:id="R1d4fe49df92d4bb0"/>
    <p:sldId xmlns:r="http://schemas.openxmlformats.org/officeDocument/2006/relationships" id="259" r:id="R5e17bdae2a8a4cb1"/>
    <p:sldId xmlns:r="http://schemas.openxmlformats.org/officeDocument/2006/relationships" id="260" r:id="Ra082fb44c9e148da"/>
    <p:sldId xmlns:r="http://schemas.openxmlformats.org/officeDocument/2006/relationships" id="261" r:id="Rb099db4b01b14466"/>
    <p:sldId xmlns:r="http://schemas.openxmlformats.org/officeDocument/2006/relationships" id="262" r:id="Rf3f2404b67ab47d2"/>
    <p:sldId xmlns:r="http://schemas.openxmlformats.org/officeDocument/2006/relationships" id="263" r:id="R3f229d47bb474a2b"/>
    <p:sldId xmlns:r="http://schemas.openxmlformats.org/officeDocument/2006/relationships" id="264" r:id="Rbea88746ed444950"/>
    <p:sldId xmlns:r="http://schemas.openxmlformats.org/officeDocument/2006/relationships" id="265" r:id="R054340cb7ac446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7cf62a0e6c40c9" /><Relationship Type="http://schemas.openxmlformats.org/officeDocument/2006/relationships/slideMaster" Target="/ppt/slideMasters/slideMaster1.xml" Id="Ra72b1aa135334a94" /><Relationship Type="http://schemas.openxmlformats.org/officeDocument/2006/relationships/notesMaster" Target="/ppt/notesMasters/notesMaster1.xml" Id="R4d729c4181e44fba" /><Relationship Type="http://schemas.openxmlformats.org/officeDocument/2006/relationships/presProps" Target="/ppt/presProps.xml" Id="Re652ee3b2104449f" /><Relationship Type="http://schemas.openxmlformats.org/officeDocument/2006/relationships/tableStyles" Target="/ppt/tableStyles.xml" Id="Rf247d3fe6d8d429f" /><Relationship Type="http://schemas.openxmlformats.org/officeDocument/2006/relationships/slide" Target="/ppt/slides/slide1.xml" Id="R0d63da7840b74c82" /><Relationship Type="http://schemas.openxmlformats.org/officeDocument/2006/relationships/slide" Target="/ppt/slides/slide2.xml" Id="Ra14b98f393b84189" /><Relationship Type="http://schemas.openxmlformats.org/officeDocument/2006/relationships/slide" Target="/ppt/slides/slide3.xml" Id="R1d4fe49df92d4bb0" /><Relationship Type="http://schemas.openxmlformats.org/officeDocument/2006/relationships/slide" Target="/ppt/slides/slide4.xml" Id="R5e17bdae2a8a4cb1" /><Relationship Type="http://schemas.openxmlformats.org/officeDocument/2006/relationships/slide" Target="/ppt/slides/slide5.xml" Id="Ra082fb44c9e148da" /><Relationship Type="http://schemas.openxmlformats.org/officeDocument/2006/relationships/slide" Target="/ppt/slides/slide6.xml" Id="Rb099db4b01b14466" /><Relationship Type="http://schemas.openxmlformats.org/officeDocument/2006/relationships/slide" Target="/ppt/slides/slide7.xml" Id="Rf3f2404b67ab47d2" /><Relationship Type="http://schemas.openxmlformats.org/officeDocument/2006/relationships/slide" Target="/ppt/slides/slide8.xml" Id="R3f229d47bb474a2b" /><Relationship Type="http://schemas.openxmlformats.org/officeDocument/2006/relationships/slide" Target="/ppt/slides/slide9.xml" Id="Rbea88746ed444950" /><Relationship Type="http://schemas.openxmlformats.org/officeDocument/2006/relationships/slide" Target="/ppt/slides/slide10.xml" Id="R054340cb7ac446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8cc1e02de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7fc44e26014255" /><Relationship Type="http://schemas.openxmlformats.org/officeDocument/2006/relationships/notesMaster" Target="/ppt/notesMasters/notesMaster1.xml" Id="R2aec45c01c4548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7a2d0832b442b2" /><Relationship Type="http://schemas.openxmlformats.org/officeDocument/2006/relationships/notesMaster" Target="/ppt/notesMasters/notesMaster1.xml" Id="R457107a6889b48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2737d90c74d4a" /><Relationship Type="http://schemas.openxmlformats.org/officeDocument/2006/relationships/notesMaster" Target="/ppt/notesMasters/notesMaster1.xml" Id="R2a010188d13946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691df2348e4387" /><Relationship Type="http://schemas.openxmlformats.org/officeDocument/2006/relationships/notesMaster" Target="/ppt/notesMasters/notesMaster1.xml" Id="R45f8ee28dade46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b3730fda1f4e61" /><Relationship Type="http://schemas.openxmlformats.org/officeDocument/2006/relationships/notesMaster" Target="/ppt/notesMasters/notesMaster1.xml" Id="Rd52288e211fb48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d3a4e3148b46d1" /><Relationship Type="http://schemas.openxmlformats.org/officeDocument/2006/relationships/notesMaster" Target="/ppt/notesMasters/notesMaster1.xml" Id="Racf6112a884d4a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f127c3396045e7" /><Relationship Type="http://schemas.openxmlformats.org/officeDocument/2006/relationships/notesMaster" Target="/ppt/notesMasters/notesMaster1.xml" Id="R4039ad45e6a245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e0b6a4efcc4e50" /><Relationship Type="http://schemas.openxmlformats.org/officeDocument/2006/relationships/notesMaster" Target="/ppt/notesMasters/notesMaster1.xml" Id="R2c8cea8440e644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947a09c4154aa5" /><Relationship Type="http://schemas.openxmlformats.org/officeDocument/2006/relationships/notesMaster" Target="/ppt/notesMasters/notesMaster1.xml" Id="R890de5f6e5ef4a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a7e7c23e514e44" /><Relationship Type="http://schemas.openxmlformats.org/officeDocument/2006/relationships/notesMaster" Target="/ppt/notesMasters/notesMaster1.xml" Id="R3c629c15337b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评测口径：80条开发回归集与40条冻结留出集；冻结留出集创建后不再根据结果调规则。</a:t>
            </a:r>
          </a:p>
          <a:p xmlns:a="http://schemas.openxmlformats.org/drawingml/2006/main">
            <a:r>
              <a:t>10名用户测试用于形成性可用性验证，不用于宣称模型准确率。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北京：北京市人社局，2025-09-01起，2540元/月、27.7元/小时。</a:t>
            </a:r>
          </a:p>
          <a:p xmlns:a="http://schemas.openxmlformats.org/drawingml/2006/main">
            <a:r>
              <a:t>上海：上海市人社局，2025-07-01起，2740元/月、25元/小时。</a:t>
            </a:r>
          </a:p>
          <a:p xmlns:a="http://schemas.openxmlformats.org/drawingml/2006/main">
            <a:r>
              <a:t>广东：广东省人社厅，2026-09-01起，2680/2300/2040元/月。</a:t>
            </a:r>
          </a:p>
          <a:p xmlns:a="http://schemas.openxmlformats.org/drawingml/2006/main">
            <a:r>
              <a:t>深圳：深圳市人社局，2026-09-01起，2700元/月、25.4元/小时。</a:t>
            </a:r>
          </a:p>
          <a:p xmlns:a="http://schemas.openxmlformats.org/drawingml/2006/main">
            <a:r>
              <a:t>重庆：重庆市政府/市人社局，2025-01-01起，2330/2200元/月。</a:t>
            </a:r>
          </a:p>
          <a:p xmlns:a="http://schemas.openxmlformats.org/drawingml/2006/main">
            <a:r>
              <a:t>其余地区使用人社部截至2026-10-01汇总值，标注待属地原文复核。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5f3a3562249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34ec6cb5844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e1c59c86944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e3a175f4745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45fbd030d40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19aea9cce40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307B7-CDBD-4E36-B2BD-F4D5433AD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CEBE92-DF1E-4FB4-9A28-367F8C7EC7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EDFDA5-2194-4EF2-A3B2-0B40F000E5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F23D38-004E-49FF-A1C9-B3092A4CC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767379-7073-4F48-942D-78CD9084AF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BE6877-9CE6-4D72-946A-CA323D5BB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87BBB4-D9C0-4D09-BD6C-B3BEC88DD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015C29-5D44-4CBD-AEFB-D93467F309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0CDD63-7F76-4965-A4E8-167C68F22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962AD1-2FBB-4CBE-B699-6C335BF57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d64e0e71243c0" /><Relationship Type="http://schemas.openxmlformats.org/officeDocument/2006/relationships/slideLayout" Target="/ppt/slideLayouts/slideLayout1.xml" Id="R6bcd39d7c0bf4a6a" /><Relationship Type="http://schemas.openxmlformats.org/officeDocument/2006/relationships/slideLayout" Target="/ppt/slideLayouts/slideLayout2.xml" Id="R13d5a7a9ecf2462c" /><Relationship Type="http://schemas.openxmlformats.org/officeDocument/2006/relationships/slideLayout" Target="/ppt/slideLayouts/slideLayout3.xml" Id="R1dc16118f3324196" /><Relationship Type="http://schemas.openxmlformats.org/officeDocument/2006/relationships/slideLayout" Target="/ppt/slideLayouts/slideLayout4.xml" Id="R386e4449e577425f" /><Relationship Type="http://schemas.openxmlformats.org/officeDocument/2006/relationships/slideLayout" Target="/ppt/slideLayouts/slideLayout5.xml" Id="R87f5c8e2ab964c87" /><Relationship Type="http://schemas.openxmlformats.org/officeDocument/2006/relationships/slideLayout" Target="/ppt/slideLayouts/slideLayout6.xml" Id="Rbe9ff9120fa64a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d39d7c0bf4a6a"/>
    <p:sldLayoutId xmlns:r="http://schemas.openxmlformats.org/officeDocument/2006/relationships" id="2147483650" r:id="R13d5a7a9ecf2462c"/>
    <p:sldLayoutId xmlns:r="http://schemas.openxmlformats.org/officeDocument/2006/relationships" id="2147483651" r:id="R1dc16118f3324196"/>
    <p:sldLayoutId xmlns:r="http://schemas.openxmlformats.org/officeDocument/2006/relationships" id="2147483652" r:id="R386e4449e577425f"/>
    <p:sldLayoutId xmlns:r="http://schemas.openxmlformats.org/officeDocument/2006/relationships" id="2147483653" r:id="R87f5c8e2ab964c87"/>
    <p:sldLayoutId xmlns:r="http://schemas.openxmlformats.org/officeDocument/2006/relationships" id="2147483654" r:id="Rbe9ff9120fa64a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528f615384ff9" /><Relationship Type="http://schemas.openxmlformats.org/officeDocument/2006/relationships/notesSlide" Target="/ppt/notesSlides/notesSlide1.xml" Id="Ra6c9addb9a9e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e501052504aed" /><Relationship Type="http://schemas.openxmlformats.org/officeDocument/2006/relationships/notesSlide" Target="/ppt/notesSlides/notesSlide2.xml" Id="Rbefa2e9ad6254d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63ed6ee2744e9" /><Relationship Type="http://schemas.openxmlformats.org/officeDocument/2006/relationships/notesSlide" Target="/ppt/notesSlides/notesSlide3.xml" Id="R97741b6999b9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add4c28e44be8" /><Relationship Type="http://schemas.openxmlformats.org/officeDocument/2006/relationships/image" Target="/ppt/media/image.png" Id="R1498ace876c445f5" /><Relationship Type="http://schemas.openxmlformats.org/officeDocument/2006/relationships/notesSlide" Target="/ppt/notesSlides/notesSlide4.xml" Id="R2e3132efd49c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430c6ff6445e7" /><Relationship Type="http://schemas.openxmlformats.org/officeDocument/2006/relationships/image" Target="/ppt/media/image2.png" Id="Ra5fc9c631b324404" /><Relationship Type="http://schemas.openxmlformats.org/officeDocument/2006/relationships/notesSlide" Target="/ppt/notesSlides/notesSlide5.xml" Id="R31283aeceb37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635e27b62460a" /><Relationship Type="http://schemas.openxmlformats.org/officeDocument/2006/relationships/notesSlide" Target="/ppt/notesSlides/notesSlide6.xml" Id="Rcfcd527d414f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ca403244a48c4" /><Relationship Type="http://schemas.openxmlformats.org/officeDocument/2006/relationships/image" Target="/ppt/media/image3.png" Id="R7821e223678d447f" /><Relationship Type="http://schemas.openxmlformats.org/officeDocument/2006/relationships/notesSlide" Target="/ppt/notesSlides/notesSlide7.xml" Id="R237d0f24846744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6f29d5ff5432b" /><Relationship Type="http://schemas.openxmlformats.org/officeDocument/2006/relationships/notesSlide" Target="/ppt/notesSlides/notesSlide8.xml" Id="Rf142c9e93a3745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0f88f726f4a55" /><Relationship Type="http://schemas.openxmlformats.org/officeDocument/2006/relationships/notesSlide" Target="/ppt/notesSlides/notesSlide9.xml" Id="R14f8953d101748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d567df6d54971" /><Relationship Type="http://schemas.openxmlformats.org/officeDocument/2006/relationships/notesSlide" Target="/ppt/notesSlides/notesSlide10.xml" Id="R3dbae3fabcbd42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6892C-143E-4413-948D-AE3D350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rPr>
              <a:t>2026 第十四届全国大学生数字媒体科技作品及创意竞赛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FC52F-51F6-47F7-A715-7154BE4F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职安盾 VeriWork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36BED-2025-4B8F-A89D-948E9B6E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6E2EC"/>
                </a:solidFill>
                <a:latin typeface="Microsoft YaHei"/>
                <a:ea typeface="Microsoft YaHei"/>
                <a:cs typeface="Microsoft YaHei"/>
              </a:rPr>
              <a:t>就业协议与合同的可验证 AI 风险评估与证据链系统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E4D3F-5B23-49E3-AFF5-8017DE97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D6"/>
          </a:solidFill>
          <a:ln xmlns:a="http://schemas.openxmlformats.org/drawingml/2006/main" w="0">
            <a:solidFill>
              <a:srgbClr val="8FB8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84F22-3C37-4D3E-8584-AB514CAA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B9CB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9C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CBD9"/>
                </a:solidFill>
                <a:latin typeface="Microsoft YaHei"/>
                <a:ea typeface="Microsoft YaHei"/>
                <a:cs typeface="Microsoft YaHei"/>
              </a:rPr>
              <a:t>规则优先  ·  模型辅助  ·  人工复核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3CE30-16AF-4863-94A2-21AEF14F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rPr>
              <a:t>Web / PC / Mobile  ·  劳动合同 / 实习协议 / 三方协议 / 聊天截图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328C3-BC6A-4CCC-8B96-0AAF83A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46C73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2B0E4-20E3-41AE-84D3-CBE820C5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00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C5871-D491-4ACE-8C47-A6D4953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02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材料识别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E4435-0C46-49B1-BC11-42F2AB91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A5561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76564-ABB6-4F90-B23D-E49E2DF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77BC-45EB-4D66-8437-670C53F1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事实抽取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1528-35A9-4828-915C-C55FCC3C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34B63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6D92E-71A3-4C3F-A456-299CD0EE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A6DCF-F80E-4139-857F-F53F7FEA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57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风险研判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CA5BF-52FC-41D7-94C9-78DAD247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9445F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B0C68-FD93-4717-9304-5FCD258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78230-39C3-4A70-A329-895352F6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报告与证据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B62A7-5125-4CCC-BF4A-52619D00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1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A7BA"/>
                </a:solidFill>
                <a:latin typeface="Microsoft YaHei"/>
                <a:ea typeface="Microsoft YaHei"/>
                <a:cs typeface="Microsoft YaHei"/>
              </a:rPr>
              <a:t>演示地址：8.133.222.0/veriwork</a:t>
            </a:r>
          </a:p>
        </p:txBody>
      </p:sp>
    </p:spTree>
    <p:extLst>
      <p:ext uri="{BB962C8B-B14F-4D97-AF65-F5344CB8AC3E}">
        <p14:creationId xmlns:p14="http://schemas.microsoft.com/office/powerpoint/2010/main" val="1499235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D458F-6B2B-4E34-835E-A350711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6E01A-3A4B-4C45-9129-BFBCBF5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三份材料，三个断点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76E6F-F817-4598-B0EE-63668CD1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D12B0-A542-4E9C-A9B3-E34F5ABE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C7FA5-F12A-4D65-8504-1288B6F2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实习协议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C751D-95DA-4E64-BC7D-EE47F49C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补贴、保险、派驻关系看不清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85B3A-BADA-4746-9234-C4A6E919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A42BB-33EA-4C8B-B3C4-4B01204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不知道自己是不是“只是实习”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68846-949B-4AB0-90DD-9C87B33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428E1-D743-4B9A-A852-6A3624AC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F89E0-7C53-4964-A765-13C6E23E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三方协议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8F7DA-A505-4B6E-BBD0-D064C3AF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违约金、档案、户口、报到安排分散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EC233-9C38-4B13-A4B1-3BFF3E99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B0078-C136-4B97-A130-25A82ED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不知道签约后还要不要劳动合同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382C9-7CFF-4282-8FAC-F822706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F9B60-4107-4069-B180-A4339DA9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75C02-2E25-4CAE-9725-685623D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劳动合同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7078A-FA15-4140-BDCC-30EAFABC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试用期、社保、加班、离职限制藏在条款里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F646F-54F3-4296-A796-805EBFD3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8D657-6EAC-4A4A-8A80-4DEBAD9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不知道哪一条该谈、该怎么留证据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51711-5A8C-457B-B62C-6CDEBCE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2033"/>
          </a:solidFill>
          <a:ln xmlns:a="http://schemas.openxmlformats.org/drawingml/2006/main" w="0">
            <a:solidFill>
              <a:srgbClr val="0F20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44205-ED71-4897-9A73-FD96B7D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通用大模型能回答，但不能保证有依据、可追溯、可执行。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6A3D9-2439-48D8-BC51-10107B40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2F678-1DA3-4763-8162-272F56F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2846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24E51C-6AC6-4E0A-9678-7695ECCC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1966D-C10C-4274-81D2-A60BCE2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一条链路，把材料变成可执行报告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13046-CDE4-49CF-9A58-4FDF87FD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169D0-451B-4018-B9C5-B6DD5D0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DCE9D-2B2E-4F54-97CC-C096B3B4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材料识别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F3F39-E026-4529-8945-90E9259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合同 / 三方协议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实习协议 / 聊天截图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EF1DE-04BE-40EA-9C18-B31AB638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ECC89-0B23-4664-9E3C-8B55DE70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66F20-792C-4D9B-BE71-8E21DCBA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80EAB-35B1-4620-ABAF-EC7E5FD3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事实抽取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9BFBB-ADD2-4B15-9485-E1D4C7EB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主体 / 学校 / 地点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期限 / 报酬 / 违约金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01D61-A7B1-47AC-BCCA-58335DC4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C2ECD-ED7D-4717-A26D-45EC838A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3F3"/>
          </a:solidFill>
          <a:ln xmlns:a="http://schemas.openxmlformats.org/drawingml/2006/main" w="9525">
            <a:solidFill>
              <a:srgbClr val="B7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5FF01-A791-46B6-B277-DA36B024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AD8C2-E4CC-4943-80F6-D37F199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 + 法源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40398-BF02-4F44-B174-21C77A04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硬约束规则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公开法律与政策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B7A03-5459-41A5-BB91-77FCF427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9E8D5-F18D-40A5-B46C-9F23A2E6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EBD01-5F2C-4F8D-A00E-31DC1510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F9D94-F851-47D8-8670-912292E9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1F762-D7B5-44C9-9B76-A84E3176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只在允许风险ID内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必须命中原文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F05D5-5023-4C81-892C-07931236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8125A-E80B-43F7-802F-EAEADBE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0F0B9-DDCD-4FBA-BCC4-2C5CACFE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35C6E-CE6A-4EE6-9BE1-C300EC56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7C258-3EF7-408A-8C86-402EDD06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无依据或信息不足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标记待核实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467B3-193E-494A-98C5-B6CAC7CE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4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D80BF-2250-4538-8CD7-C11A337E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1638300" cy="2247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C70FF-71A6-485E-96D4-8F5BF8C2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193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354105-9B8E-42B2-9EB9-88171103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24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证据行动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ECF0C-734F-421A-B696-D676463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766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报告 / 证据清单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沟通与办理路径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6743B8-E38D-4168-A861-BAEE583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0">
            <a:solidFill>
              <a:srgbClr val="172B4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A7AD4-6DDD-4EDB-8BA4-C7FC2B3D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拖入微信截图  →  识别三方协议  →  抽取甲方/学校/岗位/违约金  →  发现风险  →  生成报告和证据清单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A6982B-DA64-4D1A-9288-81807425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A58A0A-FD30-4407-A19D-DC4D06FB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3096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4AFDD-597A-4070-88A9-9FD1FB2C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材料入口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3344E-132F-4F99-8BFD-7596F881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微信 / QQ 截图也能直接进入研判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70D2B-0F15-46BE-838F-6D5FFC96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支持 PDF、Word、TXT 和 PNG/JPG/WEBP 图片；可一次拖入多张聊天截图，也可以 Ctrl+V 粘贴。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1AA3B-0BBA-46F9-A3F7-CEF9DF0D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A52F-A270-4482-A4A9-6332D05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拖拽上传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12C6C-D1A3-438A-A1FD-75F3EB6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从微信、QQ 或桌面直接拖入图片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DC838-04AB-4EC2-8032-E96D388D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0CE06-B6BA-458F-A6BF-1B22F4C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OCR 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7FA88-3EB3-4A10-B979-1959E74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中文 / 英文 / 日文，识别后进入文本框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57FD3-9853-472B-9BA4-B9D3EF1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295E5-034A-4840-AEAB-1A2A8DC9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人工校对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AAB66-EF1A-437E-B335-A71535B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识别结果可修改，再运行可信研判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6D6EE-2B95-4258-B11D-6F76F3E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2400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584B6-87C8-4A21-866A-1E001C65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多图合并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0A37F-7D5E-4064-B400-5CBA9BFF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24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多张截图按页合并，保留页码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C88A6-47C5-4F4B-8E5F-7C9AB0FD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3911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45956-3AD0-495A-8D79-BE45407C4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8ace876c445f5"/>
          <a:stretch xmlns:a="http://schemas.openxmlformats.org/drawingml/2006/main"/>
        </p:blipFill>
        <p:spPr>
          <a:xfrm xmlns:a="http://schemas.openxmlformats.org/drawingml/2006/main">
            <a:off x="6419850" y="2846665"/>
            <a:ext cx="4933950" cy="555069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502B2-467A-463D-A994-DAC8EB88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识别链路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305B6-6B20-47FE-913C-17B78F8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图片  →  OCR  →  文本校对  →  可信研判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7A95D-8331-4F13-BD20-A09C8A2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OCR 结果不直接作为最终结论；识别误差由用户在文本框中修正。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85BF9-5CC3-4F1F-A1D2-40E299C3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309B2-C617-449C-8C18-CCBE8DF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9051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42B97-529E-44CB-B12D-9DD6C1AA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DF790-6039-4A1F-8D89-FFE2C60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三方协议不是劳动合同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19620-DD13-4F66-9DDB-4CC0B62E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7E9D5-6F3E-413C-A3E0-AE5B0957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甲方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6540D-3329-494D-8FEF-414B83A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用人单位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9E46B-C87A-46D5-8030-A9F2C1C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064CC-203A-4710-99DC-D65AB759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丙方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EFA4C-9124-4150-B0FA-27394ACD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0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F1501-D091-4574-A751-546D9FB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383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1407A-BEEE-445C-82ED-D654C4CA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岗位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5C413-0B80-4922-AFA2-7BA5D174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测试工程师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B4D99-E048-4D67-86AC-F7435A9D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FB611-BEF7-4929-8280-894F97B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报到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51F67-497F-44EE-A8AA-EBDE96BE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2026-07-01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69A82-D7E1-41F5-850A-240471AC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1DF8F-C32D-4CB1-BB43-16D975C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违约金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DFC56-CDEA-487C-AF71-0434D864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20000元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09ECB-A4E2-442E-A6FA-726D7652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2895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C5E2A-0B4E-4B1A-90A0-8C4F54B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档案/户口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BAF5D-9686-4620-94EB-8DDED59C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待核实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A67AD-2603-4BF0-BFAF-CA0067F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系统会同时识别：签约单位、学校、实际用工单位、岗位、报到日期、试用期、月薪、违约金和档案户口安排。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5E1DF-EF66-48E6-A6B3-5AB51DD7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14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EFC7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4A0A5-73ED-4121-A7C8-E06FFA80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重要边界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2EC67-027A-4CB9-9B68-E687707B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7A27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A27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A271A"/>
                </a:solidFill>
                <a:latin typeface="Microsoft YaHei"/>
                <a:ea typeface="Microsoft YaHei"/>
                <a:cs typeface="Microsoft YaHei"/>
              </a:rPr>
              <a:t>三方协议不能替代劳动合同；入职后仍应依法签订书面劳动合同。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EB336-6CE9-4C86-A499-3D46AE25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3911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753EF1-FC0D-483C-AD47-DA16A9BD0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c9c631b324404"/>
          <a:srcRect xmlns:a="http://schemas.openxmlformats.org/drawingml/2006/main" l="0" t="4826" r="0" b="4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924050"/>
            <a:ext cx="493395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880D1-4D53-4AEC-98EC-E8487EDA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自动识别为“三方协议” · 高风险 · 多项待核实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FE6D5-8190-43B2-AD22-A8353138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501083-E231-4F45-90D1-743E2A37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7862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DB51F-7063-49DB-B5D9-F4D123A4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可信链路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4349D-F914-4ABF-9D58-5EE47AD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规则拥有硬约束权，模型只做候选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1319B-B604-41D0-A94F-145FE34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1461-DC0F-4EE3-912B-1AE1445E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C63"/>
          </a:solidFill>
          <a:ln xmlns:a="http://schemas.openxmlformats.org/drawingml/2006/main" w="0">
            <a:solidFill>
              <a:srgbClr val="0D5C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0A4BE-5044-461D-8EE8-140F3BD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A25F-75B5-433A-A66D-0FA561F6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06078-6D5C-4BA0-86EC-A8F7F0E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试用期 / 社保 / 押金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加班 / 离职限制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0AE1D-F9EF-4246-B94A-569EE961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4A387-80E1-4FFF-9E18-773A2671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70"/>
          </a:solidFill>
          <a:ln xmlns:a="http://schemas.openxmlformats.org/drawingml/2006/main" w="0">
            <a:solidFill>
              <a:srgbClr val="1E5B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5AF28-E6DC-4A09-A5A8-F56E63B1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1E5B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1E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E5B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E0B98-90D6-4DBF-8687-E5C44414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结构化事实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92A1B-CCF0-47E5-A303-ECEB09B1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主体 / 地点 / 期限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报酬 / 签章 / 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99CB5-F5A2-404D-8A20-F538513C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784F9-CBB2-493B-98A1-577DD36B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A66"/>
          </a:solidFill>
          <a:ln xmlns:a="http://schemas.openxmlformats.org/drawingml/2006/main" w="0">
            <a:solidFill>
              <a:srgbClr val="284A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09ACB-F052-4FB9-85B3-1DF612D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284A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284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84A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31583-DD38-4666-A89C-171537CB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法源检索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6AC81-0B69-4D5F-BC79-B89648D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法律 / 政策 / 版本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来源与生效日期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1E49B-3A39-4DE3-B7B3-6D046C33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514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4D7F7-F262-46F9-98B2-F2AB5E7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45C"/>
          </a:solidFill>
          <a:ln xmlns:a="http://schemas.openxmlformats.org/drawingml/2006/main" w="0">
            <a:solidFill>
              <a:srgbClr val="3744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F644B-8004-4D40-AD38-A789013B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>
                <a:solidFill>
                  <a:srgbClr val="3744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374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7445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F79AC-7B4E-4E8B-B418-45769065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模型候选 + 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222D3-441A-4728-A8D4-A83BB199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只能选允许的风险ID</a:t>
            </a:r>
          </a:p>
          <a:p xmlns:a="http://schemas.openxmlformats.org/drawingml/2006/main">
            <a:pPr algn="l">
              <a:def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必须命中真实原文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C56A1-E65F-42C6-9316-FDF29DE5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2033"/>
          </a:solidFill>
          <a:ln xmlns:a="http://schemas.openxmlformats.org/drawingml/2006/main" w="0">
            <a:solidFill>
              <a:srgbClr val="0F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AD752-1ECA-4696-AE1E-5878E32B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无可靠法源或关键信息不足  →  标记“待核实” / 拒答 / 人工复核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F8FC5-CAF9-4637-9426-2F415590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AI 用于语义候选、解释草拟和代码辅助；硬规则、法源引用和最终结构调整由确定性程序与团队控制。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0DF02-6D62-4932-B50F-E73841C9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C2664-6264-40C8-93B1-DD4D8195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3319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EEA9E-5334-4627-B75D-C41E4AE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1CE0C-2662-4FD9-B590-92E2D39C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报告不是一句结论，而是可复核的交付物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D57D8-09B4-4371-BB10-29AE583D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015B6-DE7B-4D0A-B267-D8B5047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页码 / 条款定位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61B7D-3FA5-49A2-AF2A-5119C501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78878-8775-4F2B-B740-3D4224DE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原文片段与事实依据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623BD-2284-4154-B69B-87693C5E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94BF9-C98D-42E1-B51C-6D1E8E0F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法源依据与版本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FECDD-26FC-4F44-8FC5-239F2EA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151C8-0B7E-4CE6-8561-30E7238B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待核实事项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8B66-EA3C-4CC6-B004-EF683281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75B0A-D53F-4862-9D03-7618CCE8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原始文件 SHA-256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8D098-C449-4DA7-BC67-8D95318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77865-A6AD-4A79-AEFD-08C469A3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证据清单与后续行动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B36EB-64D3-4EBB-83C3-518C5F8C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每个结论都能回到原文；每个不能确定的点都明确写出下一步。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7BA17-3EF4-4727-B8F0-67BCB94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6769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84EE0-D47E-4F24-BC52-E4983875D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1e223678d447f"/>
          <a:srcRect xmlns:a="http://schemas.openxmlformats.org/drawingml/2006/main" l="0" t="20751" r="0" b="20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924050"/>
            <a:ext cx="521970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5F109-3809-44E9-B772-8FF9C202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29350"/>
            <a:ext cx="56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HTML / PDF 报告 · 证据包 ZIP · 账户数据删除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6A308-2188-47A9-AD5D-1D21301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6F9F0-1CE7-4A14-80B4-6BAA792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9456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ADFDD-7D30-498B-B0DA-F3445419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DA37B-A9F7-4E36-9471-3BB19259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把可信性做成可测量指标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8F56A-C7E8-4C11-938F-6467A481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3C3D5-A807-4CFB-AFA9-AA97CCCE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D7BA8-1588-47CF-897C-82EAA4EE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BCCD5-6EDC-439E-B1B9-39C1A92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覆盖合同、实习、三方和用工关系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1D55A-56F5-498B-A8BD-B4557CF1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D1F22-92C2-42F3-9CAB-2296E51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A79E8-08C4-415D-8377-E85C367D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条法源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4F989-9C00-487E-A520-14ACCB2B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原文、版本、来源可追溯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3C142-3269-4D46-A7FD-C222BFCC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A5DED-770C-46BD-ACC3-4F4F656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80 + 40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6E541-5675-4495-AF62-3F8398B3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评测样本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2B70E-ED78-450B-BA66-94C8A447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开发集 + 冻结留出集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0D284-790E-445E-BF10-C424ACB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14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D48FD-6A6F-49DE-B6EE-E80FC673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1F0F9-19CC-4E27-AB41-43F3B70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名用户测试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AACDC-A9DD-4204-A1A9-9BBEB01C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两轮形成性可用性测试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26458-05FF-4ED2-AEDB-70978BDD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0">
            <a:solidFill>
              <a:srgbClr val="172B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2A0FF-D6B4-4FCD-A74A-8223A756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开发集 80  ·  冻结留出 40  ·  10 人两轮测试  ·  1—2 名专家抽样复核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0D6D9-4750-49C4-9906-6DBFBB8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用户测试用于可用性，不替代模型准确率；准确率、法源覆盖与待核实召回分别报告。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EEECB-4501-45E6-A075-F475647F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5D79D-52C5-4386-8890-F952CC78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7786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0F385-D384-4177-885C-F4A7AA20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政策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0AEC2-0010-4DB5-AFB4-9222855F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地方政策不写死，来源可追溯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492AB-9557-41BE-A567-5AE9B589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已核验（2026-10-19）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6B26A-2AC0-478B-9841-65C52E6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05AD6-E6E4-4765-A0B8-318596AD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北京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30FE8-A731-4D64-AB90-45F43EFE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2540 / 27.7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8DBAD-F63D-40EF-8CFC-1F117C69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2025-09-01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0F6E9-B4C0-47EB-8857-9DB6C5D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64D70-7F93-4793-AFBB-DEB2E604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上海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D96DA-A668-4EC7-AE2E-0785D48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48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2740 / 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14F00-9CB6-4392-A18B-9F82A15D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765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2025-07-01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6F675-D156-40FC-A09F-14C8DDE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B5A9D-CF98-460A-B317-D4F98DBB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广东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8CDA6-E08A-4C98-A9BE-FD428003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2680 / 2300 / 2040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A926A-BBCD-4450-9962-B5875A51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433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2026-09-01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E362-D41F-411C-B2FC-881D9258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18C52-5D8C-47F6-902A-271C6BE6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深圳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92273-83EB-4B5B-B45B-A09169E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2700 / 25.4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A438D-587E-41CA-957E-0FF9997E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10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2026-09-01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FF83B-8DB6-490E-8771-BC38404F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D8B25-C969-4C3C-8343-4EFEC1F1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D88D5-E3DE-4A9B-A607-669D6139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48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D5C63"/>
                </a:solidFill>
                <a:latin typeface="Microsoft YaHei"/>
                <a:ea typeface="Microsoft YaHei"/>
                <a:cs typeface="Microsoft YaHei"/>
              </a:rPr>
              <a:t>2330 / 2200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26015-7F0D-4B62-B65D-FD84A0E0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76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2025-01-01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3FED6-E7BE-42C1-8FCF-6EA6C8F2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其余地区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8FDE2-FD46-4A78-8F08-7C0E9D65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四川 · 贵州 · 云南 · 陕西 · 湖北 · 湖南 · 广西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460A3-DAC4-49D7-B759-B03DAB2E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B5B6E"/>
                </a:solidFill>
                <a:latin typeface="Microsoft YaHei"/>
                <a:ea typeface="Microsoft YaHei"/>
                <a:cs typeface="Microsoft YaHei"/>
              </a:rPr>
              <a:t>使用人社部截至 2026-10-01 全国汇总值，标记“待属地原文复核”，不写成确定结论。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0BB31-1950-46E0-B7D1-8EEF4BE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BCF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8BB763-10AE-4F8C-9020-ABFFD6C7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7A4A0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7A4A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A4A08"/>
                </a:solidFill>
                <a:latin typeface="Microsoft YaHei"/>
                <a:ea typeface="Microsoft YaHei"/>
                <a:cs typeface="Microsoft YaHei"/>
              </a:rPr>
              <a:t>为什么深圳单列？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76C052-FD7B-4B73-A437-3C3CF940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B4A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B4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4A18"/>
                </a:solidFill>
                <a:latin typeface="Microsoft YaHei"/>
                <a:ea typeface="Microsoft YaHei"/>
                <a:cs typeface="Microsoft YaHei"/>
              </a:rPr>
              <a:t>深圳不能直接套用广东省统一档；平台已建立“深圳”独立地区包。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5AFCE-9F3A-4CF8-A7CF-2DD856B4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每个来源保留：URL · 生效日期 · 原文 · SHA-256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A40E8-AF0F-40AC-9C84-C91AA3C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职安盾 VeriWork ·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5969CB-5BA3-412B-A89D-D0AC10A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4839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35492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3C244-2332-44A9-8A95-698B952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FC3D8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3873F-8F5A-41D8-8B42-7877FC6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从一次研判，到一套就业服务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D261C-448D-4E20-892A-656DE9E4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68BDA-8AA2-40A0-9A51-8CC14422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高校就业中心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BD4C4-CCA4-47C6-A568-70EA2407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rPr>
              <a:t>签约前自查、实习与三方协议普法、典型案例库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DF35F-1C94-442F-BD55-500A676D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4B55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35CFF-28BE-4AF8-9FAA-E2A647A9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人社 / 工会 / 公共法律服务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45033-35DB-41F9-8BA9-DE872B9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rPr>
              <a:t>政策匹配、材料整理、咨询前预检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2DA71-A482-492F-BB60-371A81DC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B40"/>
          </a:solidFill>
          <a:ln xmlns:a="http://schemas.openxmlformats.org/drawingml/2006/main" w="9525">
            <a:solidFill>
              <a:srgbClr val="335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22484-CA50-4A98-AFD9-8F53D916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企业与园区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6A1EC-DC3A-4AEC-B34F-96C754EF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7D6E2"/>
                </a:solidFill>
                <a:latin typeface="Microsoft YaHei"/>
                <a:ea typeface="Microsoft YaHei"/>
                <a:cs typeface="Microsoft YaHei"/>
              </a:rPr>
              <a:t>实习协议、三方协议、入职材料合规自查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51B79-109B-4E98-83C5-C422888E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D6"/>
          </a:solidFill>
          <a:ln xmlns:a="http://schemas.openxmlformats.org/drawingml/2006/main" w="0">
            <a:solidFill>
              <a:srgbClr val="8FB8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B4B18-CE0E-442D-82F5-257B36FB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规则优先  ·  模型辅助  ·  人工复核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40698-9BAA-4A0D-8CFF-EA0F1186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9C5D8"/>
                </a:solidFill>
                <a:latin typeface="Microsoft YaHei"/>
                <a:ea typeface="Microsoft YaHei"/>
                <a:cs typeface="Microsoft YaHei"/>
              </a:rPr>
              <a:t>演示地址：http://8.133.222.0/veriwork/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CF8C0-11DB-4A2D-8212-063C019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职安盾 VeriWork</a:t>
            </a:r>
          </a:p>
        </p:txBody>
      </p:sp>
    </p:spTree>
    <p:extLst>
      <p:ext uri="{BB962C8B-B14F-4D97-AF65-F5344CB8AC3E}">
        <p14:creationId xmlns:p14="http://schemas.microsoft.com/office/powerpoint/2010/main" val="254658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2026-10-19T11:44:19.1780000Z</dcterms:created>
  <dcterms:modified xsi:type="dcterms:W3CDTF">2026-10-19T11:44:19.1780000Z</dcterms:modified>
</coreProperties>
</file>